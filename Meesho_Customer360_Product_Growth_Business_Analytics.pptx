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-1027" y="-26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250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7620">
            <a:solidFill>
              <a:srgbClr val="E6E1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28816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 · CUSTOMER 360° &amp; PRODUCT GROWTH INTELLIGENCE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503920" y="6528816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77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case study • synthetic analytical dataset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A0A52"/>
          </a:solidFill>
          <a:ln w="12700">
            <a:solidFill>
              <a:srgbClr val="5A0A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583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13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ANALYTICS · PRODUCT ANALYTICS · DECISION INTELLIGENCE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114300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360°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Product Growth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94944" y="3456432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Meesho marketplace case study that connects customer value, revenue leakage, product behaviour and prioritised growth actions.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694944" y="448056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4498848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orders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139696" y="448056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8E9F1"/>
          </a:solidFill>
          <a:ln w="12700">
            <a:solidFill>
              <a:srgbClr val="F8E9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2848" y="449884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customers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730752" y="448056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EF3DF"/>
          </a:solidFill>
          <a:ln w="12700">
            <a:solidFill>
              <a:srgbClr val="FEF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449884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SKUs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94944" y="50109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stack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4944" y="52303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SQL  ·  Python / Pandas  ·  Power BI / DAX  ·  RFM / Cohorts  ·  PRD / RICE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35240" y="868680"/>
            <a:ext cx="3794760" cy="530352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35240" y="868680"/>
            <a:ext cx="3794760" cy="658368"/>
          </a:xfrm>
          <a:prstGeom prst="rect">
            <a:avLst/>
          </a:prstGeom>
          <a:solidFill>
            <a:srgbClr val="5A0A52"/>
          </a:solidFill>
          <a:ln w="12700">
            <a:solidFill>
              <a:srgbClr val="5A0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2128" y="10607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 MARKETPLACE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1828800"/>
            <a:ext cx="1188720" cy="749808"/>
          </a:xfrm>
          <a:prstGeom prst="roundRect">
            <a:avLst>
              <a:gd name="adj" fmla="val 7317"/>
            </a:avLst>
          </a:prstGeom>
          <a:solidFill>
            <a:srgbClr val="F8E9F1"/>
          </a:solidFill>
          <a:ln w="10160">
            <a:solidFill>
              <a:srgbClr val="F8E9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99339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46920" y="1828800"/>
            <a:ext cx="1188720" cy="749808"/>
          </a:xfrm>
          <a:prstGeom prst="roundRect">
            <a:avLst>
              <a:gd name="adj" fmla="val 7317"/>
            </a:avLst>
          </a:prstGeom>
          <a:solidFill>
            <a:srgbClr val="FEF3DF"/>
          </a:solidFill>
          <a:ln w="10160">
            <a:solidFill>
              <a:srgbClr val="FEF3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0072" y="199339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3063240"/>
            <a:ext cx="1188720" cy="749808"/>
          </a:xfrm>
          <a:prstGeom prst="roundRect">
            <a:avLst>
              <a:gd name="adj" fmla="val 7317"/>
            </a:avLst>
          </a:prstGeom>
          <a:solidFill>
            <a:srgbClr val="EFE5ED"/>
          </a:solidFill>
          <a:ln w="10160">
            <a:solidFill>
              <a:srgbClr val="EFE5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322783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46920" y="3063240"/>
            <a:ext cx="1188720" cy="749808"/>
          </a:xfrm>
          <a:prstGeom prst="roundRect">
            <a:avLst>
              <a:gd name="adj" fmla="val 7317"/>
            </a:avLst>
          </a:prstGeom>
          <a:solidFill>
            <a:srgbClr val="F8E9F1"/>
          </a:solidFill>
          <a:ln w="10160">
            <a:solidFill>
              <a:srgbClr val="F8E9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0072" y="322783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787384" y="2350008"/>
            <a:ext cx="1463040" cy="1243584"/>
          </a:xfrm>
          <a:prstGeom prst="ellipse">
            <a:avLst/>
          </a:prstGeom>
          <a:solidFill>
            <a:srgbClr val="FFFFFF"/>
          </a:solidFill>
          <a:ln w="30480">
            <a:solidFill>
              <a:srgbClr val="C94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42832" y="25877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87968" y="3593592"/>
            <a:ext cx="0" cy="356616"/>
          </a:xfrm>
          <a:prstGeom prst="line">
            <a:avLst/>
          </a:prstGeom>
          <a:noFill/>
          <a:ln w="17780">
            <a:solidFill>
              <a:srgbClr val="5A0A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31552" y="3593592"/>
            <a:ext cx="36576" cy="356616"/>
          </a:xfrm>
          <a:prstGeom prst="line">
            <a:avLst/>
          </a:prstGeom>
          <a:noFill/>
          <a:ln w="17780">
            <a:solidFill>
              <a:srgbClr val="C94C8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4023360"/>
            <a:ext cx="2606040" cy="1170432"/>
          </a:xfrm>
          <a:prstGeom prst="roundRect">
            <a:avLst>
              <a:gd name="adj" fmla="val 4688"/>
            </a:avLst>
          </a:prstGeom>
          <a:solidFill>
            <a:srgbClr val="F9F7F9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0768" y="426110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→ INSIGHT → ACTION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30768" y="4590288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leak. Quantify the impact. Prioritise the fix.</a:t>
            </a:r>
            <a:endParaRPr lang="en-US" sz="850" dirty="0"/>
          </a:p>
        </p:txBody>
      </p:sp>
      <p:pic>
        <p:nvPicPr>
          <p:cNvPr id="34" name="Image 0" descr="/mnt/data/meesho_assets/meesho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595" y="5321808"/>
            <a:ext cx="774050" cy="47548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94944" y="59070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Case-study data period: Jan 2025 – Jan 2026</a:t>
            </a:r>
            <a:endParaRPr lang="en-US" sz="78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37" name="Picture 36" descr="MEESH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404" y="1135395"/>
            <a:ext cx="1874519" cy="19095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READOUT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problem is value leakage, not lack of demand.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sample shows meaningful revenue tied up in RTO + cancellation, plus clear margin pressure from deep discounting.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54864" cy="804672"/>
          </a:xfrm>
          <a:prstGeom prst="rect">
            <a:avLst/>
          </a:prstGeom>
          <a:solidFill>
            <a:srgbClr val="5A0A52"/>
          </a:solidFill>
          <a:ln w="12700">
            <a:solidFill>
              <a:srgbClr val="5A0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47088"/>
            <a:ext cx="1801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VALUE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2020824"/>
            <a:ext cx="1837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₹42.29M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340864"/>
            <a:ext cx="1837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marketplace orders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2761488" y="1737360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737360"/>
            <a:ext cx="54864" cy="804672"/>
          </a:xfrm>
          <a:prstGeom prst="rect">
            <a:avLst/>
          </a:prstGeom>
          <a:solidFill>
            <a:srgbClr val="3BA272"/>
          </a:solidFill>
          <a:ln w="12700">
            <a:solidFill>
              <a:srgbClr val="3BA2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847088"/>
            <a:ext cx="1801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VALUE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2926080" y="2020824"/>
            <a:ext cx="1837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₹24.20M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26080" y="2340864"/>
            <a:ext cx="1837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57.2% of gross value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956048" y="1737360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6048" y="1737360"/>
            <a:ext cx="54864" cy="804672"/>
          </a:xfrm>
          <a:prstGeom prst="rect">
            <a:avLst/>
          </a:prstGeom>
          <a:solidFill>
            <a:srgbClr val="FF7A6E"/>
          </a:solidFill>
          <a:ln w="12700">
            <a:solidFill>
              <a:srgbClr val="FF7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847088"/>
            <a:ext cx="1801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VALUE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120640" y="2020824"/>
            <a:ext cx="1837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₹6.08M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120640" y="2340864"/>
            <a:ext cx="1837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14.38% of gross value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7150608" y="1737360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0608" y="1737360"/>
            <a:ext cx="54864" cy="804672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847088"/>
            <a:ext cx="1801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 VALUE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7315200" y="2020824"/>
            <a:ext cx="1837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₹6.02M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15200" y="2340864"/>
            <a:ext cx="1837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14.25% of gross value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9345168" y="1737360"/>
            <a:ext cx="22402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45168" y="1737360"/>
            <a:ext cx="54864" cy="804672"/>
          </a:xfrm>
          <a:prstGeom prst="rect">
            <a:avLst/>
          </a:prstGeom>
          <a:solidFill>
            <a:srgbClr val="C94C86"/>
          </a:solidFill>
          <a:ln w="12700">
            <a:solidFill>
              <a:srgbClr val="C94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0" y="1847088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MARGIN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9509760" y="2020824"/>
            <a:ext cx="2020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35.4%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509760" y="2340864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less supplier cost after discount</a:t>
            </a:r>
            <a:endParaRPr lang="en-US" sz="680" dirty="0"/>
          </a:p>
        </p:txBody>
      </p:sp>
      <p:pic>
        <p:nvPicPr>
          <p:cNvPr id="30" name="Image 0" descr="/mnt/data/meesho_assets/status_revenue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60" y="2798064"/>
            <a:ext cx="3958344" cy="251460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5632704" y="2871216"/>
            <a:ext cx="5577840" cy="1115568"/>
          </a:xfrm>
          <a:prstGeom prst="roundRect">
            <a:avLst>
              <a:gd name="adj" fmla="val 4918"/>
            </a:avLst>
          </a:prstGeom>
          <a:solidFill>
            <a:srgbClr val="EFE5ED"/>
          </a:solidFill>
          <a:ln w="10160">
            <a:solidFill>
              <a:srgbClr val="EFE5E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60720" y="3017520"/>
            <a:ext cx="0" cy="822960"/>
          </a:xfrm>
          <a:prstGeom prst="line">
            <a:avLst/>
          </a:prstGeom>
          <a:noFill/>
          <a:ln w="27940">
            <a:solidFill>
              <a:srgbClr val="FF7A6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07024" y="301752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RTO is a material operational leak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907024" y="3310128"/>
            <a:ext cx="5138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₹6.08M of gross order value is tagged RTO in the sample. That is large enough to justify a targeted verification / address-quality intervention.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5632704" y="4142232"/>
            <a:ext cx="5577840" cy="1115568"/>
          </a:xfrm>
          <a:prstGeom prst="roundRect">
            <a:avLst>
              <a:gd name="adj" fmla="val 4918"/>
            </a:avLst>
          </a:prstGeom>
          <a:solidFill>
            <a:srgbClr val="EFE5ED"/>
          </a:solidFill>
          <a:ln w="10160">
            <a:solidFill>
              <a:srgbClr val="EFE5E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760720" y="4288536"/>
            <a:ext cx="0" cy="822960"/>
          </a:xfrm>
          <a:prstGeom prst="line">
            <a:avLst/>
          </a:prstGeom>
          <a:noFill/>
          <a:ln w="27940">
            <a:solidFill>
              <a:srgbClr val="F6A62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07024" y="4288536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Discounting has a measurable margin trade-off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907024" y="4581144"/>
            <a:ext cx="5138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gross margin falls from 43.4% at 0% discount to 23.9% in the 25–30% band.</a:t>
            </a:r>
            <a:endParaRPr lang="en-US" sz="930" dirty="0"/>
          </a:p>
        </p:txBody>
      </p:sp>
      <p:sp>
        <p:nvSpPr>
          <p:cNvPr id="39" name="Shape 36"/>
          <p:cNvSpPr/>
          <p:nvPr/>
        </p:nvSpPr>
        <p:spPr>
          <a:xfrm>
            <a:off x="5632704" y="5413248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EFE5ED"/>
          </a:solidFill>
          <a:ln w="10160">
            <a:solidFill>
              <a:srgbClr val="EFE5E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760720" y="5559552"/>
            <a:ext cx="0" cy="365760"/>
          </a:xfrm>
          <a:prstGeom prst="line">
            <a:avLst/>
          </a:prstGeom>
          <a:noFill/>
          <a:ln w="27940">
            <a:solidFill>
              <a:srgbClr val="5A0A5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07024" y="555955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Customer value is concentrated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907024" y="5852160"/>
            <a:ext cx="5138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+ Loyal customers represent ~52% of transacting customers in the RFM file and ~₹29.05M of monetary value.</a:t>
            </a:r>
            <a:endParaRPr lang="en-US" sz="93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MEESHO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marketplace is a multi-sided system — customer value depends on the whole chain.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Meesho disclosures provide the operating context; this project uses synthetic customer-level data for the analytics case.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507492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56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BUSINESS CONTEXT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86384" y="23591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274M+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2816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transacting users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23591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1.04M+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2798064" y="2816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transacting sellers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" y="33649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2.83B+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placed orders · LTM to Jun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43159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visible in the business model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681728"/>
            <a:ext cx="1783080" cy="256032"/>
          </a:xfrm>
          <a:prstGeom prst="roundRect">
            <a:avLst>
              <a:gd name="adj" fmla="val 21429"/>
            </a:avLst>
          </a:prstGeom>
          <a:solidFill>
            <a:srgbClr val="F8E9F1"/>
          </a:solidFill>
          <a:ln w="12700">
            <a:solidFill>
              <a:srgbClr val="F8E9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700016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880360" y="4681728"/>
            <a:ext cx="1783080" cy="256032"/>
          </a:xfrm>
          <a:prstGeom prst="roundRect">
            <a:avLst>
              <a:gd name="adj" fmla="val 21429"/>
            </a:avLst>
          </a:prstGeom>
          <a:solidFill>
            <a:srgbClr val="FEF3DF"/>
          </a:solidFill>
          <a:ln w="12700">
            <a:solidFill>
              <a:srgbClr val="FEF3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53512" y="4700016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22960" y="5102352"/>
            <a:ext cx="1783080" cy="256032"/>
          </a:xfrm>
          <a:prstGeom prst="roundRect">
            <a:avLst>
              <a:gd name="adj" fmla="val 21429"/>
            </a:avLst>
          </a:prstGeom>
          <a:solidFill>
            <a:srgbClr val="F8E9F1"/>
          </a:solidFill>
          <a:ln w="12700">
            <a:solidFill>
              <a:srgbClr val="F8E9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512064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880360" y="5102352"/>
            <a:ext cx="1783080" cy="256032"/>
          </a:xfrm>
          <a:prstGeom prst="roundRect">
            <a:avLst>
              <a:gd name="adj" fmla="val 21429"/>
            </a:avLst>
          </a:prstGeom>
          <a:solidFill>
            <a:srgbClr val="FEF3DF"/>
          </a:solidFill>
          <a:ln w="12700">
            <a:solidFill>
              <a:srgbClr val="FEF3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53512" y="512064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925312" y="1719072"/>
            <a:ext cx="5650992" cy="4160520"/>
          </a:xfrm>
          <a:prstGeom prst="roundRect">
            <a:avLst>
              <a:gd name="adj" fmla="val 1319"/>
            </a:avLst>
          </a:prstGeom>
          <a:solidFill>
            <a:srgbClr val="EFE5ED"/>
          </a:solidFill>
          <a:ln w="10160">
            <a:solidFill>
              <a:srgbClr val="EFE5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19385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QUESTION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81344" y="2340864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marketplace growth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— or destroy — value?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6236208" y="34381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0" y="3438144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valuable? Who is at risk?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36208" y="39684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3968496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behaviours / features correlate with repeat?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36208" y="44988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4498848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value lost before delivery?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6208" y="5029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5029200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intervention should be prioritised?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DATA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analytical layer connects customer, order, product and event data.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mirrors a Meesho-style marketplace: consumers, sellers, products, orders, behavioural events and operational outcomes.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33101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0" dirty="0"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8288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0370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customer profile · acquisition · RFM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0248" y="1719072"/>
            <a:ext cx="33101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828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0" dirty="0"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8288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34840" y="220370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order status · payment · city · pincode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73568" y="1719072"/>
            <a:ext cx="33101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828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0" dirty="0">
                <a:latin typeface="Arial" pitchFamily="34" charset="0"/>
                <a:ea typeface="Arial" pitchFamily="34" charset="-122"/>
                <a:cs typeface="Arial" pitchFamily="34" charset="-120"/>
              </a:rPr>
              <a:t>LINE ITEMS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46920" y="18288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70,032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38160" y="220370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SKU · category · units · revenue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798064"/>
            <a:ext cx="33101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9077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0" dirty="0"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29077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28269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price · discount · rating · stock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70248" y="2798064"/>
            <a:ext cx="33101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9077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0" dirty="0"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29077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34840" y="328269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feature · device · session · conversion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73568" y="2798064"/>
            <a:ext cx="33101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29077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0" dirty="0">
                <a:latin typeface="Arial" pitchFamily="34" charset="0"/>
                <a:ea typeface="Arial" pitchFamily="34" charset="-122"/>
                <a:cs typeface="Arial" pitchFamily="34" charset="-120"/>
              </a:rPr>
              <a:t>RFM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46920" y="29077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9,933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138160" y="328269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recency · frequency · monetary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7" y="4059936"/>
            <a:ext cx="3595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100" dirty="0">
                <a:latin typeface="Arial" pitchFamily="34" charset="0"/>
                <a:ea typeface="Arial" pitchFamily="34" charset="-122"/>
                <a:cs typeface="Arial" pitchFamily="34" charset="-120"/>
              </a:rPr>
              <a:t>ANALYTICAL ARCHITECTURE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482767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EFE5ED"/>
          </a:solidFill>
          <a:ln w="10160">
            <a:solidFill>
              <a:srgbClr val="EFE5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4665647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FILES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" y="4985687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PBIX / docs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05456" y="4939967"/>
            <a:ext cx="210312" cy="0"/>
          </a:xfrm>
          <a:prstGeom prst="line">
            <a:avLst/>
          </a:prstGeom>
          <a:noFill/>
          <a:ln w="20320">
            <a:solidFill>
              <a:srgbClr val="C94C8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79776" y="4482767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F8E9F1"/>
          </a:solidFill>
          <a:ln w="10160">
            <a:solidFill>
              <a:srgbClr val="F8E9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89504" y="4665647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871216" y="4985687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SQL views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18304" y="4939967"/>
            <a:ext cx="210312" cy="0"/>
          </a:xfrm>
          <a:prstGeom prst="line">
            <a:avLst/>
          </a:prstGeom>
          <a:noFill/>
          <a:ln w="20320">
            <a:solidFill>
              <a:srgbClr val="C94C8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92624" y="4482767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FEF3DF"/>
          </a:solidFill>
          <a:ln w="10160">
            <a:solidFill>
              <a:srgbClr val="FEF3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02352" y="4665647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4985687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 / RFM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31152" y="4939967"/>
            <a:ext cx="210312" cy="0"/>
          </a:xfrm>
          <a:prstGeom prst="line">
            <a:avLst/>
          </a:prstGeom>
          <a:noFill/>
          <a:ln w="20320">
            <a:solidFill>
              <a:srgbClr val="C94C8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05472" y="4482767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EFE5ED"/>
          </a:solidFill>
          <a:ln w="10160">
            <a:solidFill>
              <a:srgbClr val="EFE5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4665647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96912" y="4985687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/ DAX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144000" y="4939967"/>
            <a:ext cx="210312" cy="0"/>
          </a:xfrm>
          <a:prstGeom prst="line">
            <a:avLst/>
          </a:prstGeom>
          <a:noFill/>
          <a:ln w="20320">
            <a:solidFill>
              <a:srgbClr val="C94C8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58364" y="4445718"/>
            <a:ext cx="2365774" cy="1851818"/>
          </a:xfrm>
          <a:prstGeom prst="roundRect">
            <a:avLst>
              <a:gd name="adj" fmla="val 6000"/>
            </a:avLst>
          </a:prstGeom>
          <a:solidFill>
            <a:srgbClr val="F8E9F1"/>
          </a:solidFill>
          <a:ln w="10160">
            <a:solidFill>
              <a:srgbClr val="F8E9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28048" y="4665647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578340" y="5989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→ PRD → Roadmap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907524" y="56784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grain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613812" y="4939967"/>
            <a:ext cx="1999068" cy="36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· Order · SKU · Session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95160" y="57607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The fact table is order-line grain; customer and product dimensions are joined for analysis.</a:t>
            </a:r>
            <a:endParaRPr lang="en-US" sz="12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senior analyst should flag what the data can and cannot support.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documentation identified two reconciliation gaps; the deck uses source CSVs as the primary quantitative basis.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1101852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9751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15184" y="197510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59936" y="19751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SOURCE SUPPORTS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27464" y="19751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TREATMENT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" y="2231136"/>
            <a:ext cx="10588752" cy="0"/>
          </a:xfrm>
          <a:prstGeom prst="line">
            <a:avLst/>
          </a:prstGeom>
          <a:noFill/>
          <a:ln w="8890">
            <a:solidFill>
              <a:srgbClr val="E4DF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359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definition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95728" y="2368296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38658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9584" y="2350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= RTO_COMPLETE revenue / gross revenue → 14.38%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68512" y="23500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A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" y="2761488"/>
            <a:ext cx="10588752" cy="0"/>
          </a:xfrm>
          <a:prstGeom prst="line">
            <a:avLst/>
          </a:prstGeom>
          <a:noFill/>
          <a:ln w="8890">
            <a:solidFill>
              <a:srgbClr val="E4DF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8895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Gross-to-status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95728" y="2898648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291693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9584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+ Shipped + Cancelled + RTO = gross → ₹42.29M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68512" y="28803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A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8096" y="3291840"/>
            <a:ext cx="10588752" cy="0"/>
          </a:xfrm>
          <a:prstGeom prst="line">
            <a:avLst/>
          </a:prstGeom>
          <a:noFill/>
          <a:ln w="8890">
            <a:solidFill>
              <a:srgbClr val="E4DF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4198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 share of RTO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95728" y="3429000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FEF3DF"/>
          </a:solidFill>
          <a:ln w="12700">
            <a:solidFill>
              <a:srgbClr val="FEF3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44728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issue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29584" y="3410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shows ~20.2% of RTO revenue; a documented 68% planning assumption conflicts with the sample.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68512" y="34107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8096" y="3822192"/>
            <a:ext cx="10588752" cy="0"/>
          </a:xfrm>
          <a:prstGeom prst="line">
            <a:avLst/>
          </a:prstGeom>
          <a:noFill/>
          <a:ln w="8890">
            <a:solidFill>
              <a:srgbClr val="E4DF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39502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funnel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95728" y="3959352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FEF3DF"/>
          </a:solidFill>
          <a:ln w="12700">
            <a:solidFill>
              <a:srgbClr val="FEF3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39776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issue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29584" y="39410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events are independently generated per session; they should be treated as adoption signals, not a causal sequence.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68512" y="39410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Re-instrument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8096" y="4352544"/>
            <a:ext cx="10588752" cy="0"/>
          </a:xfrm>
          <a:prstGeom prst="line">
            <a:avLst/>
          </a:prstGeom>
          <a:noFill/>
          <a:ln w="8890">
            <a:solidFill>
              <a:srgbClr val="E4DF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" y="4480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cohorts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95728" y="4489704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4507991"/>
            <a:ext cx="877824" cy="552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with method change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29584" y="4471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Cohorts are based on first-order month because 2024 sign-ups precede the sales window.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68512" y="44714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A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5440680"/>
            <a:ext cx="11018520" cy="1001684"/>
          </a:xfrm>
          <a:prstGeom prst="roundRect">
            <a:avLst>
              <a:gd name="adj" fmla="val 9677"/>
            </a:avLst>
          </a:prstGeom>
          <a:solidFill>
            <a:srgbClr val="EFE5ED"/>
          </a:solidFill>
          <a:ln w="10160">
            <a:solidFill>
              <a:srgbClr val="EFE5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" y="5586984"/>
            <a:ext cx="0" cy="274320"/>
          </a:xfrm>
          <a:prstGeom prst="line">
            <a:avLst/>
          </a:prstGeom>
          <a:noFill/>
          <a:ln w="27940">
            <a:solidFill>
              <a:srgbClr val="5A0A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" y="558698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takeaway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395728" y="5586984"/>
            <a:ext cx="9052560" cy="85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would not publish the 68% COD-attributed RTO figure or a sequential conversion funnel until the underlying event definitions are reconciled. The current deck keeps those as planning / instrumentation items.</a:t>
            </a:r>
            <a:endParaRPr lang="en-US" sz="12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KPI LAYER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baseline can be read in under 30 seconds.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as the landing page for a Power BI management view.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91640"/>
            <a:ext cx="54864" cy="804672"/>
          </a:xfrm>
          <a:prstGeom prst="rect">
            <a:avLst/>
          </a:prstGeom>
          <a:solidFill>
            <a:srgbClr val="5A0A52"/>
          </a:solidFill>
          <a:ln w="12700">
            <a:solidFill>
              <a:srgbClr val="5A0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0136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1792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295144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Full-year sample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2706624" y="169164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06624" y="1691640"/>
            <a:ext cx="54864" cy="804672"/>
          </a:xfrm>
          <a:prstGeom prst="rect">
            <a:avLst/>
          </a:prstGeom>
          <a:solidFill>
            <a:srgbClr val="7A226A"/>
          </a:solidFill>
          <a:ln w="12700">
            <a:solidFill>
              <a:srgbClr val="7A22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71216" y="180136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VALUE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2871216" y="1975104"/>
            <a:ext cx="1792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₹42.29M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871216" y="2295144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Order-line revenue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846320" y="169164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691640"/>
            <a:ext cx="54864" cy="804672"/>
          </a:xfrm>
          <a:prstGeom prst="rect">
            <a:avLst/>
          </a:prstGeom>
          <a:solidFill>
            <a:srgbClr val="3BA272"/>
          </a:solidFill>
          <a:ln w="12700">
            <a:solidFill>
              <a:srgbClr val="3BA2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180136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SHARE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010912" y="1975104"/>
            <a:ext cx="1792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57.2%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10912" y="2295144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/ gross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6986016" y="169164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86016" y="1691640"/>
            <a:ext cx="54864" cy="804672"/>
          </a:xfrm>
          <a:prstGeom prst="rect">
            <a:avLst/>
          </a:prstGeom>
          <a:solidFill>
            <a:srgbClr val="FF7A6E"/>
          </a:solidFill>
          <a:ln w="12700">
            <a:solidFill>
              <a:srgbClr val="FF7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180136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RATE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7150608" y="1975104"/>
            <a:ext cx="1792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14.38%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150608" y="2295144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revenue / gross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9125712" y="169164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25712" y="1691640"/>
            <a:ext cx="54864" cy="804672"/>
          </a:xfrm>
          <a:prstGeom prst="rect">
            <a:avLst/>
          </a:prstGeom>
          <a:solidFill>
            <a:srgbClr val="C94C86"/>
          </a:solidFill>
          <a:ln w="12700">
            <a:solidFill>
              <a:srgbClr val="C94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0304" y="180136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RETENTION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9290304" y="1975104"/>
            <a:ext cx="1792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33.1%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290304" y="2295144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complete cohorts</a:t>
            </a:r>
            <a:endParaRPr lang="en-US" sz="680" dirty="0"/>
          </a:p>
        </p:txBody>
      </p:sp>
      <p:pic>
        <p:nvPicPr>
          <p:cNvPr id="30" name="Image 0" descr="/mnt/data/meesho_assets/monthly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084" y="2788920"/>
            <a:ext cx="4408687" cy="2651760"/>
          </a:xfrm>
          <a:prstGeom prst="rect">
            <a:avLst/>
          </a:prstGeom>
        </p:spPr>
      </p:pic>
      <p:pic>
        <p:nvPicPr>
          <p:cNvPr id="31" name="Image 1" descr="/mnt/data/meesho_assets/city_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338" y="2788920"/>
            <a:ext cx="4628428" cy="265176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13232" y="55595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CHARTS AS: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847088" y="5559552"/>
            <a:ext cx="8823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demand is broadly stable → 2) value leakage is persistent → 3) growth pockets exist in a subset of cities</a:t>
            </a:r>
            <a:endParaRPr lang="en-US" sz="9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smaller high-value base creates a clear retention and cross-sell opportunity.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RFM helps connect customer behaviour to monetary value without requiring a heavy ML model.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682496"/>
            <a:ext cx="21031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82496"/>
            <a:ext cx="54864" cy="804672"/>
          </a:xfrm>
          <a:prstGeom prst="rect">
            <a:avLst/>
          </a:prstGeom>
          <a:solidFill>
            <a:srgbClr val="5A0A52"/>
          </a:solidFill>
          <a:ln w="12700">
            <a:solidFill>
              <a:srgbClr val="5A0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922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CUSTOMERS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2,154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21.7% of RFM file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2798064" y="1682496"/>
            <a:ext cx="1192045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8064" y="1682496"/>
            <a:ext cx="54864" cy="804672"/>
          </a:xfrm>
          <a:prstGeom prst="rect">
            <a:avLst/>
          </a:prstGeom>
          <a:solidFill>
            <a:srgbClr val="C94C86"/>
          </a:solidFill>
          <a:ln w="12700">
            <a:solidFill>
              <a:srgbClr val="C94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2656" y="17922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 CUSTOMERS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2962656" y="1965960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62656" y="2286000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30.2% of RFM file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140569" y="1682496"/>
            <a:ext cx="1338349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40569" y="1682496"/>
            <a:ext cx="54864" cy="804672"/>
          </a:xfrm>
          <a:prstGeom prst="rect">
            <a:avLst/>
          </a:prstGeom>
          <a:solidFill>
            <a:srgbClr val="FF7A6E"/>
          </a:solidFill>
          <a:ln w="12700">
            <a:solidFill>
              <a:srgbClr val="FF7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5210" y="1785574"/>
            <a:ext cx="11937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CUSTOMERS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4290198" y="1999211"/>
            <a:ext cx="941832" cy="23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251960" y="2289325"/>
            <a:ext cx="10931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 of RFM file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7260336" y="1682496"/>
            <a:ext cx="21031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0336" y="1682496"/>
            <a:ext cx="54864" cy="804672"/>
          </a:xfrm>
          <a:prstGeom prst="rect">
            <a:avLst/>
          </a:prstGeom>
          <a:solidFill>
            <a:srgbClr val="7A226A"/>
          </a:solidFill>
          <a:ln w="12700">
            <a:solidFill>
              <a:srgbClr val="7A22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17922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+ LOYAL VALUE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7424928" y="1965960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₹29.05M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424928" y="2286000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~69% of RFM monetary value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9491472" y="1682496"/>
            <a:ext cx="21031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91472" y="1682496"/>
            <a:ext cx="54864" cy="804672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56064" y="17922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REPEAT-BUYERS PROXY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9656064" y="1965960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9,579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656064" y="2286000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≥ 2 (RICE input)</a:t>
            </a:r>
            <a:endParaRPr lang="en-US" sz="680" dirty="0"/>
          </a:p>
        </p:txBody>
      </p:sp>
      <p:pic>
        <p:nvPicPr>
          <p:cNvPr id="30" name="Image 0" descr="/mnt/data/meesho_assets/rfm_segment_va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84" y="2788920"/>
            <a:ext cx="5877808" cy="288036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7242048" y="2788920"/>
            <a:ext cx="43434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79792" y="30358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ACTIONS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479792" y="34564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759952" y="3438144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833104" y="345643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710928" y="342900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/ early access / cross-sell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479792" y="39684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 Customer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759952" y="3950208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833104" y="396849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710928" y="3941064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offers / reorder journeys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479792" y="4480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759952" y="4462272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FEF3DF"/>
          </a:solidFill>
          <a:ln w="12700">
            <a:solidFill>
              <a:srgbClr val="FEF3D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833104" y="44805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back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710928" y="445312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reminder + value-led incentive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7479792" y="499262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/ Hibernating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8759952" y="4974336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833104" y="499262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Re-activate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9710928" y="496519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re-engagement, test before scale</a:t>
            </a:r>
            <a:endParaRPr lang="en-US" sz="12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5600700" y="1693164"/>
            <a:ext cx="1456806" cy="783336"/>
          </a:xfrm>
          <a:prstGeom prst="roundRect">
            <a:avLst/>
          </a:prstGeom>
          <a:solidFill>
            <a:srgbClr val="FFFFFF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600699" y="1693164"/>
            <a:ext cx="45719" cy="783336"/>
          </a:xfrm>
          <a:prstGeom prst="rect">
            <a:avLst/>
          </a:prstGeom>
          <a:solidFill>
            <a:srgbClr val="B97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765291" y="1813668"/>
            <a:ext cx="1891509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dirty="0">
                <a:solidFill>
                  <a:srgbClr val="656975"/>
                </a:solidFill>
                <a:latin typeface="Aptos"/>
              </a:rPr>
              <a:t>LOST / HIBERNATING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95880" y="2023336"/>
            <a:ext cx="125355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161820"/>
                </a:solidFill>
                <a:latin typeface="Aptos"/>
              </a:rPr>
              <a:t>3,338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INTELLIGENCE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discounting buys volume, but the margin trade-off is visible.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type of relationship a business analyst should surface before recommending blanket promotions.</a:t>
            </a:r>
            <a:endParaRPr lang="en-US" sz="1100" dirty="0"/>
          </a:p>
        </p:txBody>
      </p:sp>
      <p:pic>
        <p:nvPicPr>
          <p:cNvPr id="5" name="Image 0" descr="/mnt/data/meesho_assets/discount_margin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81" y="1700784"/>
            <a:ext cx="5821014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00784"/>
            <a:ext cx="4078224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54112" y="1956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ECONOMICS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54112" y="23591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&amp; Kitchen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46920" y="2359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₹9.24M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789920" y="23591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38.0%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54112" y="28346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 &amp; Footwear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46920" y="28346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₹8.41M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789920" y="28346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54112" y="33101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Jewelry &amp; Accessories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46920" y="33101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₹8.38M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789920" y="3310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36.2%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54112" y="37856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Ethnic Wear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46920" y="37856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₹8.26M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789920" y="3785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32.1%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754112" y="42611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Wear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46920" y="4261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₹8.00M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789920" y="42611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34.0%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498080" y="5321807"/>
            <a:ext cx="4078224" cy="1112243"/>
          </a:xfrm>
          <a:prstGeom prst="roundRect">
            <a:avLst>
              <a:gd name="adj" fmla="val 8333"/>
            </a:avLst>
          </a:prstGeom>
          <a:solidFill>
            <a:srgbClr val="EFE5ED"/>
          </a:solidFill>
          <a:ln w="10160">
            <a:solidFill>
              <a:srgbClr val="EFE5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26096" y="5468112"/>
            <a:ext cx="0" cy="365760"/>
          </a:xfrm>
          <a:prstGeom prst="line">
            <a:avLst/>
          </a:prstGeom>
          <a:noFill/>
          <a:ln w="27940">
            <a:solidFill>
              <a:srgbClr val="F6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0" y="5468112"/>
            <a:ext cx="3666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implication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772400" y="5760720"/>
            <a:ext cx="3639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margin-aware promotion rules. A 25–30% discount band models at 23.9% margin vs 43.4% at no discount.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&amp; FULFILLMENT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39" y="612648"/>
            <a:ext cx="114632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is broad-based across regions — the intervention should be systematic, not city-specific.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sample’s overall RTO rate is 14.38%; the spread by state is comparatively narrow.</a:t>
            </a:r>
            <a:endParaRPr lang="en-US" sz="1100" dirty="0"/>
          </a:p>
        </p:txBody>
      </p:sp>
      <p:pic>
        <p:nvPicPr>
          <p:cNvPr id="5" name="Image 0" descr="/mnt/data/meesho_assets/state_rto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98" y="1719072"/>
            <a:ext cx="624258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19072"/>
            <a:ext cx="4078224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54112" y="19659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BRIDGE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54112" y="2468880"/>
            <a:ext cx="146304" cy="182880"/>
          </a:xfrm>
          <a:prstGeom prst="rect">
            <a:avLst/>
          </a:prstGeom>
          <a:solidFill>
            <a:srgbClr val="3BA272"/>
          </a:solidFill>
          <a:ln w="12700">
            <a:solidFill>
              <a:srgbClr val="3BA2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10144" y="24231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12680" y="2423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A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₹24.20M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54112" y="2999232"/>
            <a:ext cx="146304" cy="182880"/>
          </a:xfrm>
          <a:prstGeom prst="rect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10144" y="29535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12680" y="29535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₹5.98M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54112" y="3529584"/>
            <a:ext cx="146304" cy="18288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10144" y="34838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12680" y="34838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6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₹6.02M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54112" y="4059936"/>
            <a:ext cx="146304" cy="182880"/>
          </a:xfrm>
          <a:prstGeom prst="rect">
            <a:avLst/>
          </a:prstGeom>
          <a:solidFill>
            <a:srgbClr val="FF7A6E"/>
          </a:solidFill>
          <a:ln w="12700">
            <a:solidFill>
              <a:srgbClr val="FF7A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10144" y="40142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12680" y="4014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₹6.08M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735824" y="4535424"/>
            <a:ext cx="3364992" cy="0"/>
          </a:xfrm>
          <a:prstGeom prst="line">
            <a:avLst/>
          </a:prstGeom>
          <a:noFill/>
          <a:ln w="10160">
            <a:solidFill>
              <a:srgbClr val="E4DF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0" y="47183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851392" y="470916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gross value sits in RTO + cancellation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63164" y="5760258"/>
            <a:ext cx="260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Recommended response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766462" y="5679255"/>
            <a:ext cx="2619153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Address quality + proactive confirmation + fee transparency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ANALYTICS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adoption is measurable; the current event grain is not sufficient for a true sequential funnel.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limitation is itself a product analytics insight: instrumentation quality determines decision quality.</a:t>
            </a:r>
            <a:endParaRPr lang="en-US" sz="1100" dirty="0"/>
          </a:p>
        </p:txBody>
      </p:sp>
      <p:pic>
        <p:nvPicPr>
          <p:cNvPr id="5" name="Image 0" descr="/mnt/data/meesho_assets/feature_ado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92898"/>
            <a:ext cx="6720840" cy="324477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00784"/>
            <a:ext cx="4078224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54112" y="1975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CAN SUPPORT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54112" y="241401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reach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25712" y="23957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~21k unique sessions per feature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54112" y="296265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mix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25712" y="29443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dominates event volume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54112" y="351129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flags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25712" y="3493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Present, but not stage-sequenced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54112" y="405993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instrumentation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25712" y="40416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ID + session step + timestamp sequence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98080" y="5376672"/>
            <a:ext cx="4078224" cy="1124712"/>
          </a:xfrm>
          <a:prstGeom prst="roundRect">
            <a:avLst>
              <a:gd name="adj" fmla="val 8333"/>
            </a:avLst>
          </a:prstGeom>
          <a:solidFill>
            <a:srgbClr val="EFE5ED"/>
          </a:solidFill>
          <a:ln w="10160">
            <a:solidFill>
              <a:srgbClr val="EFE5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26096" y="5522976"/>
            <a:ext cx="0" cy="365760"/>
          </a:xfrm>
          <a:prstGeom prst="line">
            <a:avLst/>
          </a:prstGeom>
          <a:noFill/>
          <a:ln w="27940">
            <a:solidFill>
              <a:srgbClr val="C94C8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5522976"/>
            <a:ext cx="3666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analytics recommendation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0" y="5815584"/>
            <a:ext cx="3639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Browse → PDP → Cart → Checkout → Purchase as ordered event states before using drop-off as an optimisation KPI.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20040"/>
            <a:ext cx="1250342" cy="1231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 dirty="0" smtClean="0">
                <a:solidFill>
                  <a:srgbClr val="661664"/>
                </a:solidFill>
                <a:latin typeface="Aptos"/>
              </a:rPr>
              <a:t>SALES </a:t>
            </a:r>
            <a:r>
              <a:rPr sz="800" b="1" dirty="0">
                <a:solidFill>
                  <a:srgbClr val="661664"/>
                </a:solidFill>
                <a:latin typeface="Aptos"/>
              </a:rPr>
              <a:t>&amp;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947535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161820"/>
                </a:solidFill>
                <a:latin typeface="Aptos"/>
              </a:rPr>
              <a:t>Monthly revenue is relatively stable; the bigger swing is in mix and </a:t>
            </a:r>
            <a:r>
              <a:rPr sz="2000" b="1" dirty="0" err="1">
                <a:solidFill>
                  <a:srgbClr val="161820"/>
                </a:solidFill>
                <a:latin typeface="Aptos"/>
              </a:rPr>
              <a:t>realisation</a:t>
            </a:r>
            <a:endParaRPr sz="2000" b="1" dirty="0">
              <a:solidFill>
                <a:srgbClr val="16182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525143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The uploaded model covers Jan 2025–Jan 2026; Jan 2026 is a partial month.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55648"/>
            <a:ext cx="181299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61820"/>
                </a:solidFill>
                <a:latin typeface="Aptos"/>
              </a:rPr>
              <a:t>Gross revenue by 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057400"/>
            <a:ext cx="6949440" cy="9144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" name="TextBox 7"/>
          <p:cNvSpPr txBox="1"/>
          <p:nvPr/>
        </p:nvSpPr>
        <p:spPr>
          <a:xfrm>
            <a:off x="213681" y="1965960"/>
            <a:ext cx="42639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656975"/>
                </a:solidFill>
                <a:latin typeface="Aptos"/>
              </a:rPr>
              <a:t>₹4.0M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868930"/>
            <a:ext cx="6949440" cy="9144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TextBox 9"/>
          <p:cNvSpPr txBox="1"/>
          <p:nvPr/>
        </p:nvSpPr>
        <p:spPr>
          <a:xfrm>
            <a:off x="213681" y="2777490"/>
            <a:ext cx="42639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656975"/>
                </a:solidFill>
                <a:latin typeface="Aptos"/>
              </a:rPr>
              <a:t>₹3.0M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680460"/>
            <a:ext cx="6949440" cy="9144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213681" y="3589020"/>
            <a:ext cx="42639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656975"/>
                </a:solidFill>
                <a:latin typeface="Aptos"/>
              </a:rPr>
              <a:t>₹2.0M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491990"/>
            <a:ext cx="6949440" cy="9144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213681" y="4400550"/>
            <a:ext cx="42639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656975"/>
                </a:solidFill>
                <a:latin typeface="Aptos"/>
              </a:rPr>
              <a:t>₹1.0M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303520"/>
            <a:ext cx="6949440" cy="9144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213681" y="5212080"/>
            <a:ext cx="42639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656975"/>
                </a:solidFill>
                <a:latin typeface="Aptos"/>
              </a:rPr>
              <a:t>₹0.0M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405232"/>
            <a:ext cx="294014" cy="2898287"/>
          </a:xfrm>
          <a:prstGeom prst="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846536" y="5394959"/>
            <a:ext cx="24686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56975"/>
                </a:solidFill>
                <a:latin typeface="Aptos"/>
              </a:rPr>
              <a:t>Jan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57532" y="2658203"/>
            <a:ext cx="294014" cy="2645316"/>
          </a:xfrm>
          <a:prstGeom prst="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Rectangle 19"/>
          <p:cNvSpPr/>
          <p:nvPr/>
        </p:nvSpPr>
        <p:spPr>
          <a:xfrm>
            <a:off x="1892104" y="2396321"/>
            <a:ext cx="294014" cy="2907198"/>
          </a:xfrm>
          <a:prstGeom prst="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1906863" y="5394959"/>
            <a:ext cx="2644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56975"/>
                </a:solidFill>
                <a:latin typeface="Aptos"/>
              </a:rPr>
              <a:t>Mar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6676" y="2512665"/>
            <a:ext cx="294014" cy="2790854"/>
          </a:xfrm>
          <a:prstGeom prst="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Rectangle 22"/>
          <p:cNvSpPr/>
          <p:nvPr/>
        </p:nvSpPr>
        <p:spPr>
          <a:xfrm>
            <a:off x="2961249" y="2352501"/>
            <a:ext cx="294014" cy="2951018"/>
          </a:xfrm>
          <a:prstGeom prst="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2963184" y="5394959"/>
            <a:ext cx="29014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56975"/>
                </a:solidFill>
                <a:latin typeface="Aptos"/>
              </a:rPr>
              <a:t>May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95821" y="2559779"/>
            <a:ext cx="294014" cy="2743740"/>
          </a:xfrm>
          <a:prstGeom prst="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Rectangle 25"/>
          <p:cNvSpPr/>
          <p:nvPr/>
        </p:nvSpPr>
        <p:spPr>
          <a:xfrm>
            <a:off x="4030393" y="2396540"/>
            <a:ext cx="294014" cy="2906979"/>
          </a:xfrm>
          <a:prstGeom prst="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7" name="TextBox 26"/>
          <p:cNvSpPr txBox="1"/>
          <p:nvPr/>
        </p:nvSpPr>
        <p:spPr>
          <a:xfrm>
            <a:off x="4079617" y="5394959"/>
            <a:ext cx="19556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56975"/>
                </a:solidFill>
                <a:latin typeface="Aptos"/>
              </a:rPr>
              <a:t>Jul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64966" y="2368644"/>
            <a:ext cx="294014" cy="2934875"/>
          </a:xfrm>
          <a:prstGeom prst="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9" name="Rectangle 28"/>
          <p:cNvSpPr/>
          <p:nvPr/>
        </p:nvSpPr>
        <p:spPr>
          <a:xfrm>
            <a:off x="5099538" y="2518458"/>
            <a:ext cx="294014" cy="2785061"/>
          </a:xfrm>
          <a:prstGeom prst="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0" name="TextBox 29"/>
          <p:cNvSpPr txBox="1"/>
          <p:nvPr/>
        </p:nvSpPr>
        <p:spPr>
          <a:xfrm>
            <a:off x="5110290" y="5394959"/>
            <a:ext cx="27251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56975"/>
                </a:solidFill>
                <a:latin typeface="Aptos"/>
              </a:rPr>
              <a:t>Sep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34110" y="2520034"/>
            <a:ext cx="294014" cy="2783485"/>
          </a:xfrm>
          <a:prstGeom prst="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2" name="Rectangle 31"/>
          <p:cNvSpPr/>
          <p:nvPr/>
        </p:nvSpPr>
        <p:spPr>
          <a:xfrm>
            <a:off x="6168683" y="2472644"/>
            <a:ext cx="294014" cy="2830875"/>
          </a:xfrm>
          <a:prstGeom prst="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3" name="TextBox 32"/>
          <p:cNvSpPr txBox="1"/>
          <p:nvPr/>
        </p:nvSpPr>
        <p:spPr>
          <a:xfrm>
            <a:off x="6179435" y="5394959"/>
            <a:ext cx="27251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56975"/>
                </a:solidFill>
                <a:latin typeface="Aptos"/>
              </a:rPr>
              <a:t>Nov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03255" y="2378695"/>
            <a:ext cx="294014" cy="2924824"/>
          </a:xfrm>
          <a:prstGeom prst="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5" name="Rectangle 34"/>
          <p:cNvSpPr/>
          <p:nvPr/>
        </p:nvSpPr>
        <p:spPr>
          <a:xfrm>
            <a:off x="7237827" y="5216171"/>
            <a:ext cx="294014" cy="87348"/>
          </a:xfrm>
          <a:prstGeom prst="rect">
            <a:avLst/>
          </a:prstGeom>
          <a:solidFill>
            <a:srgbClr val="EB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6" name="TextBox 35"/>
          <p:cNvSpPr txBox="1"/>
          <p:nvPr/>
        </p:nvSpPr>
        <p:spPr>
          <a:xfrm>
            <a:off x="7261403" y="5394959"/>
            <a:ext cx="24686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56975"/>
                </a:solidFill>
                <a:latin typeface="Aptos"/>
              </a:rPr>
              <a:t>Jan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1755648"/>
            <a:ext cx="164307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61820"/>
                </a:solidFill>
                <a:latin typeface="Aptos"/>
              </a:rPr>
              <a:t>Modeled gross margin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2148840"/>
            <a:ext cx="24686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Jan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85632" y="2167128"/>
            <a:ext cx="2331720" cy="10972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0" name="Rounded Rectangle 39"/>
          <p:cNvSpPr/>
          <p:nvPr/>
        </p:nvSpPr>
        <p:spPr>
          <a:xfrm>
            <a:off x="8485632" y="2167128"/>
            <a:ext cx="2054530" cy="109728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1" name="TextBox 40"/>
          <p:cNvSpPr txBox="1"/>
          <p:nvPr/>
        </p:nvSpPr>
        <p:spPr>
          <a:xfrm>
            <a:off x="10995587" y="2130552"/>
            <a:ext cx="434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35.2%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28431" y="2432304"/>
            <a:ext cx="2644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Feb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85632" y="2450592"/>
            <a:ext cx="2331720" cy="10972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4" name="Rounded Rectangle 43"/>
          <p:cNvSpPr/>
          <p:nvPr/>
        </p:nvSpPr>
        <p:spPr>
          <a:xfrm>
            <a:off x="8485632" y="2450592"/>
            <a:ext cx="2051864" cy="109728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5" name="TextBox 44"/>
          <p:cNvSpPr txBox="1"/>
          <p:nvPr/>
        </p:nvSpPr>
        <p:spPr>
          <a:xfrm>
            <a:off x="10995587" y="2414016"/>
            <a:ext cx="434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35.2%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8431" y="2715768"/>
            <a:ext cx="2644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Mar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85632" y="2734056"/>
            <a:ext cx="2331720" cy="10972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8" name="Rounded Rectangle 47"/>
          <p:cNvSpPr/>
          <p:nvPr/>
        </p:nvSpPr>
        <p:spPr>
          <a:xfrm>
            <a:off x="8485632" y="2734056"/>
            <a:ext cx="2054536" cy="109728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9" name="TextBox 48"/>
          <p:cNvSpPr txBox="1"/>
          <p:nvPr/>
        </p:nvSpPr>
        <p:spPr>
          <a:xfrm>
            <a:off x="10995587" y="2697480"/>
            <a:ext cx="434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35.2%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28431" y="2999232"/>
            <a:ext cx="23884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Apr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85632" y="3017520"/>
            <a:ext cx="2331720" cy="10972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2" name="Rounded Rectangle 51"/>
          <p:cNvSpPr/>
          <p:nvPr/>
        </p:nvSpPr>
        <p:spPr>
          <a:xfrm>
            <a:off x="8485632" y="3017520"/>
            <a:ext cx="2061374" cy="109728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3" name="TextBox 52"/>
          <p:cNvSpPr txBox="1"/>
          <p:nvPr/>
        </p:nvSpPr>
        <p:spPr>
          <a:xfrm>
            <a:off x="10995587" y="2980944"/>
            <a:ext cx="434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35.4%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28431" y="3282696"/>
            <a:ext cx="29014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May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85632" y="3300984"/>
            <a:ext cx="2331720" cy="10972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6" name="Rounded Rectangle 55"/>
          <p:cNvSpPr/>
          <p:nvPr/>
        </p:nvSpPr>
        <p:spPr>
          <a:xfrm>
            <a:off x="8485632" y="3300984"/>
            <a:ext cx="2062793" cy="109728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7" name="TextBox 56"/>
          <p:cNvSpPr txBox="1"/>
          <p:nvPr/>
        </p:nvSpPr>
        <p:spPr>
          <a:xfrm>
            <a:off x="10995587" y="3264408"/>
            <a:ext cx="434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35.4%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28431" y="3566160"/>
            <a:ext cx="24686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Jun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85632" y="3584448"/>
            <a:ext cx="2331720" cy="10972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0" name="Rounded Rectangle 59"/>
          <p:cNvSpPr/>
          <p:nvPr/>
        </p:nvSpPr>
        <p:spPr>
          <a:xfrm>
            <a:off x="8485632" y="3584448"/>
            <a:ext cx="2083513" cy="109728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1" name="TextBox 60"/>
          <p:cNvSpPr txBox="1"/>
          <p:nvPr/>
        </p:nvSpPr>
        <p:spPr>
          <a:xfrm>
            <a:off x="10995587" y="3547872"/>
            <a:ext cx="434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35.7%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28431" y="3849624"/>
            <a:ext cx="19556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Jul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485632" y="3867911"/>
            <a:ext cx="2331720" cy="10972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4" name="Rounded Rectangle 63"/>
          <p:cNvSpPr/>
          <p:nvPr/>
        </p:nvSpPr>
        <p:spPr>
          <a:xfrm>
            <a:off x="8485632" y="3867911"/>
            <a:ext cx="2083298" cy="109728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5" name="TextBox 64"/>
          <p:cNvSpPr txBox="1"/>
          <p:nvPr/>
        </p:nvSpPr>
        <p:spPr>
          <a:xfrm>
            <a:off x="10995587" y="3831336"/>
            <a:ext cx="434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35.7%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28431" y="4133087"/>
            <a:ext cx="27251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Aug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485632" y="4151375"/>
            <a:ext cx="2331720" cy="10972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8" name="Rounded Rectangle 67"/>
          <p:cNvSpPr/>
          <p:nvPr/>
        </p:nvSpPr>
        <p:spPr>
          <a:xfrm>
            <a:off x="8485632" y="4151375"/>
            <a:ext cx="2060661" cy="109728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9" name="TextBox 68"/>
          <p:cNvSpPr txBox="1"/>
          <p:nvPr/>
        </p:nvSpPr>
        <p:spPr>
          <a:xfrm>
            <a:off x="10995587" y="4114800"/>
            <a:ext cx="434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35.4%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28431" y="4416552"/>
            <a:ext cx="27251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Sep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485632" y="4434840"/>
            <a:ext cx="2331720" cy="10972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2" name="Rounded Rectangle 71"/>
          <p:cNvSpPr/>
          <p:nvPr/>
        </p:nvSpPr>
        <p:spPr>
          <a:xfrm>
            <a:off x="8485632" y="4434840"/>
            <a:ext cx="2060070" cy="109728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3" name="TextBox 72"/>
          <p:cNvSpPr txBox="1"/>
          <p:nvPr/>
        </p:nvSpPr>
        <p:spPr>
          <a:xfrm>
            <a:off x="10995587" y="4398264"/>
            <a:ext cx="434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35.3%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28431" y="4700016"/>
            <a:ext cx="24045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Oct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485632" y="4718304"/>
            <a:ext cx="2331720" cy="10972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6" name="Rounded Rectangle 75"/>
          <p:cNvSpPr/>
          <p:nvPr/>
        </p:nvSpPr>
        <p:spPr>
          <a:xfrm>
            <a:off x="8485632" y="4718304"/>
            <a:ext cx="2051687" cy="109728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7" name="TextBox 76"/>
          <p:cNvSpPr txBox="1"/>
          <p:nvPr/>
        </p:nvSpPr>
        <p:spPr>
          <a:xfrm>
            <a:off x="10995587" y="4681728"/>
            <a:ext cx="434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35.2%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28431" y="4983480"/>
            <a:ext cx="27251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Nov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485632" y="5001768"/>
            <a:ext cx="2331720" cy="10972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0" name="Rounded Rectangle 79"/>
          <p:cNvSpPr/>
          <p:nvPr/>
        </p:nvSpPr>
        <p:spPr>
          <a:xfrm>
            <a:off x="8485632" y="5001768"/>
            <a:ext cx="2077463" cy="109728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1" name="TextBox 80"/>
          <p:cNvSpPr txBox="1"/>
          <p:nvPr/>
        </p:nvSpPr>
        <p:spPr>
          <a:xfrm>
            <a:off x="10995587" y="4965192"/>
            <a:ext cx="434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35.6%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28431" y="5266944"/>
            <a:ext cx="27251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Dec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485632" y="5285231"/>
            <a:ext cx="2331720" cy="10972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4" name="Rounded Rectangle 83"/>
          <p:cNvSpPr/>
          <p:nvPr/>
        </p:nvSpPr>
        <p:spPr>
          <a:xfrm>
            <a:off x="8485632" y="5285231"/>
            <a:ext cx="2045071" cy="109728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5" name="TextBox 84"/>
          <p:cNvSpPr txBox="1"/>
          <p:nvPr/>
        </p:nvSpPr>
        <p:spPr>
          <a:xfrm>
            <a:off x="10995587" y="5248656"/>
            <a:ext cx="434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35.1%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28431" y="5550408"/>
            <a:ext cx="24686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Jan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485632" y="5568696"/>
            <a:ext cx="2331720" cy="10972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8" name="Rounded Rectangle 87"/>
          <p:cNvSpPr/>
          <p:nvPr/>
        </p:nvSpPr>
        <p:spPr>
          <a:xfrm>
            <a:off x="8485632" y="5568696"/>
            <a:ext cx="1970958" cy="109728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" name="TextBox 88"/>
          <p:cNvSpPr txBox="1"/>
          <p:nvPr/>
        </p:nvSpPr>
        <p:spPr>
          <a:xfrm>
            <a:off x="10995587" y="5532120"/>
            <a:ext cx="434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33.8%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18027" y="5616971"/>
            <a:ext cx="5349240" cy="1118063"/>
          </a:xfrm>
          <a:prstGeom prst="roundRect">
            <a:avLst/>
          </a:prstGeom>
          <a:solidFill>
            <a:srgbClr val="F4F5F8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1" name="TextBox 90"/>
          <p:cNvSpPr txBox="1"/>
          <p:nvPr/>
        </p:nvSpPr>
        <p:spPr>
          <a:xfrm>
            <a:off x="863699" y="5732996"/>
            <a:ext cx="50654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661664"/>
                </a:solidFill>
                <a:latin typeface="Aptos"/>
              </a:rPr>
              <a:t>Insight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2960" y="6010101"/>
            <a:ext cx="516577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161820"/>
                </a:solidFill>
                <a:latin typeface="Aptos"/>
              </a:rPr>
              <a:t>Revenue does not show a sustained upward trend in the current period; growth strategy should focus on quality of demand and repeat </a:t>
            </a:r>
            <a:r>
              <a:rPr sz="1200" b="0" dirty="0" err="1">
                <a:solidFill>
                  <a:srgbClr val="161820"/>
                </a:solidFill>
                <a:latin typeface="Aptos"/>
              </a:rPr>
              <a:t>behaviour</a:t>
            </a:r>
            <a:r>
              <a:rPr sz="1200" b="0" dirty="0">
                <a:solidFill>
                  <a:srgbClr val="161820"/>
                </a:solidFill>
                <a:latin typeface="Aptos"/>
              </a:rPr>
              <a:t>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222715" y="5862197"/>
            <a:ext cx="5349240" cy="799870"/>
          </a:xfrm>
          <a:prstGeom prst="roundRect">
            <a:avLst/>
          </a:prstGeom>
          <a:solidFill>
            <a:srgbClr val="F4F5F8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4" name="TextBox 93"/>
          <p:cNvSpPr txBox="1"/>
          <p:nvPr/>
        </p:nvSpPr>
        <p:spPr>
          <a:xfrm>
            <a:off x="6352998" y="6012718"/>
            <a:ext cx="7005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405B91"/>
                </a:solidFill>
                <a:latin typeface="Aptos"/>
              </a:rPr>
              <a:t>Data note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15690" y="6292735"/>
            <a:ext cx="527227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161820"/>
                </a:solidFill>
                <a:latin typeface="Aptos"/>
              </a:rPr>
              <a:t>Jan 2026 is partial, so it should not be used as a full-month trend comparison.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783360" y="6477401"/>
            <a:ext cx="16145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200" b="1" dirty="0" smtClean="0">
                <a:solidFill>
                  <a:srgbClr val="656975"/>
                </a:solidFill>
                <a:latin typeface="Aptos"/>
              </a:rPr>
              <a:t>11</a:t>
            </a:r>
            <a:endParaRPr sz="1200" b="1" dirty="0">
              <a:solidFill>
                <a:srgbClr val="65697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30195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20040"/>
            <a:ext cx="224420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 smtClean="0">
                <a:solidFill>
                  <a:srgbClr val="661664"/>
                </a:solidFill>
                <a:latin typeface="Aptos"/>
              </a:rPr>
              <a:t> </a:t>
            </a:r>
            <a:r>
              <a:rPr sz="900" b="1" dirty="0">
                <a:solidFill>
                  <a:srgbClr val="661664"/>
                </a:solidFill>
                <a:latin typeface="Aptos"/>
              </a:rPr>
              <a:t>CATEGORY &amp; DISCOUNT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951382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161820"/>
                </a:solidFill>
                <a:latin typeface="Aptos"/>
              </a:rPr>
              <a:t>Category revenue is balanced; discount depth creates the sharper margin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9728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The current portfolio does not have a single dominant category—so margin discipline is a cross-category lever.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55648"/>
            <a:ext cx="3840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61820"/>
                </a:solidFill>
                <a:latin typeface="Aptos"/>
              </a:rPr>
              <a:t>Revenue and modeled margin by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Western Wear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185416"/>
            <a:ext cx="3063240" cy="20116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148840" y="2185416"/>
            <a:ext cx="2654236" cy="201168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21808" y="2139696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₹8.0M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2139696"/>
            <a:ext cx="438912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34.0%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15768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Ethnic Wear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752344"/>
            <a:ext cx="3063240" cy="20116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148840" y="2752344"/>
            <a:ext cx="2739924" cy="201168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21808" y="2706624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₹8.3M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706624"/>
            <a:ext cx="438912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32.1%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282696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Jewelry &amp; Accessories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8840" y="3319272"/>
            <a:ext cx="3063240" cy="20116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148840" y="3319272"/>
            <a:ext cx="2779628" cy="201168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21808" y="3273552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₹8.4M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3273552"/>
            <a:ext cx="438912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2D7D5D"/>
                </a:solidFill>
                <a:latin typeface="Aptos"/>
              </a:rPr>
              <a:t>36.2%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849624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Beauty &amp; Footwear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3886200"/>
            <a:ext cx="3063240" cy="20116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148840" y="3886200"/>
            <a:ext cx="2788962" cy="201168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21808" y="3840480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₹8.4M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840480"/>
            <a:ext cx="438912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2D7D5D"/>
                </a:solidFill>
                <a:latin typeface="Aptos"/>
              </a:rPr>
              <a:t>36.4%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416552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Home &amp; Kitchen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48840" y="4453128"/>
            <a:ext cx="3063240" cy="201168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148840" y="4453128"/>
            <a:ext cx="3063240" cy="201168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21808" y="4407408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₹9.2M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8192" y="4407408"/>
            <a:ext cx="438912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2D7D5D"/>
                </a:solidFill>
                <a:latin typeface="Aptos"/>
              </a:rPr>
              <a:t>37.9%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1755648"/>
            <a:ext cx="42062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61820"/>
                </a:solidFill>
                <a:latin typeface="Aptos"/>
              </a:rPr>
              <a:t>Margin compression by discount band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148840"/>
            <a:ext cx="6400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≤5%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2185416"/>
            <a:ext cx="2743200" cy="182880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635240" y="2185416"/>
            <a:ext cx="2644934" cy="182880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69880" y="2139696"/>
            <a:ext cx="5029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43.4%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2633472"/>
            <a:ext cx="6400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5–10%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2670048"/>
            <a:ext cx="2743200" cy="182880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635240" y="2670048"/>
            <a:ext cx="2300052" cy="182880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69880" y="2624328"/>
            <a:ext cx="5029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37.7%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3118104"/>
            <a:ext cx="6400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10–15%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3154680"/>
            <a:ext cx="2743200" cy="182880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635240" y="3154680"/>
            <a:ext cx="2074987" cy="182880"/>
          </a:xfrm>
          <a:prstGeom prst="roundRect">
            <a:avLst/>
          </a:prstGeom>
          <a:solidFill>
            <a:srgbClr val="B97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69880" y="3108960"/>
            <a:ext cx="5029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34.0%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602736"/>
            <a:ext cx="6400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15–20%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5240" y="3639312"/>
            <a:ext cx="2743200" cy="182880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635240" y="3639312"/>
            <a:ext cx="1977225" cy="182880"/>
          </a:xfrm>
          <a:prstGeom prst="roundRect">
            <a:avLst/>
          </a:prstGeom>
          <a:solidFill>
            <a:srgbClr val="B97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469880" y="3593592"/>
            <a:ext cx="5029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32.4%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4087368"/>
            <a:ext cx="6400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20–25%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35240" y="4123944"/>
            <a:ext cx="2743200" cy="182880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635240" y="4123944"/>
            <a:ext cx="1560378" cy="182880"/>
          </a:xfrm>
          <a:prstGeom prst="roundRect">
            <a:avLst/>
          </a:prstGeom>
          <a:solidFill>
            <a:srgbClr val="B2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469880" y="4078224"/>
            <a:ext cx="5029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25.6%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4572000"/>
            <a:ext cx="6400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25%+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35240" y="4608576"/>
            <a:ext cx="2743200" cy="182880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635240" y="4608576"/>
            <a:ext cx="1455187" cy="182880"/>
          </a:xfrm>
          <a:prstGeom prst="roundRect">
            <a:avLst/>
          </a:prstGeom>
          <a:solidFill>
            <a:srgbClr val="B2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469880" y="4562856"/>
            <a:ext cx="5029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23.9%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" y="5230367"/>
            <a:ext cx="5440680" cy="1178745"/>
          </a:xfrm>
          <a:prstGeom prst="roundRect">
            <a:avLst/>
          </a:prstGeom>
          <a:solidFill>
            <a:srgbClr val="F4F5F8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2959" y="5376672"/>
            <a:ext cx="51206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D7D5D"/>
                </a:solidFill>
                <a:latin typeface="Aptos"/>
              </a:rPr>
              <a:t>Margin opportunity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59" y="5705856"/>
            <a:ext cx="4841749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161820"/>
                </a:solidFill>
                <a:latin typeface="Aptos"/>
              </a:rPr>
              <a:t>No-discount modeled margin is 43.4%; at 25%+ discount it is 23.9%. Discount governance should be linked to contribution economics, not just conversion.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55080" y="5230368"/>
            <a:ext cx="4892040" cy="1178744"/>
          </a:xfrm>
          <a:prstGeom prst="roundRect">
            <a:avLst/>
          </a:prstGeom>
          <a:solidFill>
            <a:srgbClr val="F4F5F8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19672" y="5376672"/>
            <a:ext cx="45720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61664"/>
                </a:solidFill>
                <a:latin typeface="Aptos"/>
              </a:rPr>
              <a:t>Category opportunity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19672" y="5705856"/>
            <a:ext cx="4511317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161820"/>
                </a:solidFill>
                <a:latin typeface="Aptos"/>
              </a:rPr>
              <a:t>Home &amp; Kitchen has the highest modeled margin (37.9%); Beauty &amp; Footwear and Jewelry also sit above the portfolio average.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82245" y="6492240"/>
            <a:ext cx="121828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850" b="1" dirty="0" smtClean="0">
                <a:solidFill>
                  <a:srgbClr val="656975"/>
                </a:solidFill>
                <a:latin typeface="Aptos"/>
              </a:rPr>
              <a:t>12</a:t>
            </a:r>
            <a:endParaRPr sz="850" b="1" dirty="0">
              <a:solidFill>
                <a:srgbClr val="65697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0911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20040"/>
            <a:ext cx="1346522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 smtClean="0">
                <a:solidFill>
                  <a:srgbClr val="661664"/>
                </a:solidFill>
                <a:latin typeface="Aptos"/>
              </a:rPr>
              <a:t>GEOGRAPHIC </a:t>
            </a:r>
            <a:r>
              <a:rPr sz="900" b="1" dirty="0">
                <a:solidFill>
                  <a:srgbClr val="661664"/>
                </a:solidFill>
                <a:latin typeface="Aptos"/>
              </a:rPr>
              <a:t>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9820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161820"/>
                </a:solidFill>
                <a:latin typeface="Aptos"/>
              </a:rPr>
              <a:t>Growth is distributed across cities; smaller-city momentum is a practical expansion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9728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656975"/>
                </a:solidFill>
                <a:latin typeface="Aptos"/>
              </a:rPr>
              <a:t>Growth here is calculated by comparing the first and second halves of the observed period—not a forecast.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09928"/>
            <a:ext cx="56692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61820"/>
                </a:solidFill>
                <a:latin typeface="Aptos"/>
              </a:rPr>
              <a:t>Half-over-half city revenue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84831"/>
            <a:ext cx="1814169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Agra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85923" y="2130552"/>
            <a:ext cx="3004718" cy="171175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85923" y="2130552"/>
            <a:ext cx="2741287" cy="171175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04027" y="2084831"/>
            <a:ext cx="6236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12.8%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41448"/>
            <a:ext cx="1814169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Udaipur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85923" y="2487168"/>
            <a:ext cx="3004718" cy="171175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585923" y="2487168"/>
            <a:ext cx="2540467" cy="171175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04027" y="2441448"/>
            <a:ext cx="6236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11.8%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798064"/>
            <a:ext cx="1814169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Muzaffarpur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85923" y="2843784"/>
            <a:ext cx="3004718" cy="171175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585923" y="2843784"/>
            <a:ext cx="2386896" cy="171175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04027" y="2798064"/>
            <a:ext cx="6236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11.1%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154679"/>
            <a:ext cx="1814169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Siliguri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85923" y="3200400"/>
            <a:ext cx="3004718" cy="171175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585923" y="3200400"/>
            <a:ext cx="1811611" cy="171175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04027" y="3154679"/>
            <a:ext cx="6236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8.4%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511296"/>
            <a:ext cx="1814169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Indore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85923" y="3557016"/>
            <a:ext cx="3004718" cy="171175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585923" y="3557016"/>
            <a:ext cx="1446542" cy="171175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04027" y="3511296"/>
            <a:ext cx="6236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6.7%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67912"/>
            <a:ext cx="1814169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Jaipur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85923" y="3913632"/>
            <a:ext cx="3004718" cy="171175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585923" y="3913632"/>
            <a:ext cx="1445816" cy="171175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04027" y="3867912"/>
            <a:ext cx="6236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6.7%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224528"/>
            <a:ext cx="1814169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Vadodara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85923" y="4270248"/>
            <a:ext cx="3004718" cy="171175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585923" y="4270248"/>
            <a:ext cx="1064974" cy="171175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04027" y="4224528"/>
            <a:ext cx="6236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5.0%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581144"/>
            <a:ext cx="1814169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Nashik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85923" y="4626864"/>
            <a:ext cx="3004718" cy="171175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585923" y="4626864"/>
            <a:ext cx="889843" cy="171175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04027" y="4581144"/>
            <a:ext cx="6236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4.1%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4937760"/>
            <a:ext cx="1814169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Kanpur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85923" y="4983480"/>
            <a:ext cx="3004718" cy="171175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85923" y="4983480"/>
            <a:ext cx="863527" cy="171175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04027" y="4937760"/>
            <a:ext cx="6236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4.0%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294376"/>
            <a:ext cx="1814169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61820"/>
                </a:solidFill>
                <a:latin typeface="Aptos"/>
              </a:rPr>
              <a:t>Nagpur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85923" y="5340096"/>
            <a:ext cx="3004718" cy="171175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2585923" y="5340096"/>
            <a:ext cx="814770" cy="171175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04027" y="5294376"/>
            <a:ext cx="6236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161820"/>
                </a:solidFill>
                <a:latin typeface="Aptos"/>
              </a:rPr>
              <a:t>3.8%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1828800"/>
            <a:ext cx="182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61820"/>
                </a:solidFill>
                <a:latin typeface="Aptos"/>
              </a:rPr>
              <a:t>Where to focus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21945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61820"/>
                </a:solidFill>
                <a:latin typeface="Aptos"/>
              </a:defRPr>
            </a:pPr>
            <a:r>
              <a:rPr dirty="0"/>
              <a:t>•  Agra and Udaipur show the strongest observed growth in the supplied model.</a:t>
            </a:r>
          </a:p>
          <a:p>
            <a:pPr>
              <a:spcAft>
                <a:spcPts val="400"/>
              </a:spcAft>
              <a:defRPr sz="1250">
                <a:solidFill>
                  <a:srgbClr val="161820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Muzaffarpur</a:t>
            </a:r>
            <a:r>
              <a:rPr dirty="0"/>
              <a:t> and </a:t>
            </a:r>
            <a:r>
              <a:rPr dirty="0" err="1"/>
              <a:t>Siliguri</a:t>
            </a:r>
            <a:r>
              <a:rPr dirty="0"/>
              <a:t> also show positive momentum, supporting a test-and-scale playbook for Tier-2 / Tier-3 markets.</a:t>
            </a:r>
          </a:p>
          <a:p>
            <a:pPr>
              <a:spcAft>
                <a:spcPts val="400"/>
              </a:spcAft>
              <a:defRPr sz="1250">
                <a:solidFill>
                  <a:srgbClr val="161820"/>
                </a:solidFill>
                <a:latin typeface="Aptos"/>
              </a:defRPr>
            </a:pPr>
            <a:r>
              <a:rPr dirty="0"/>
              <a:t>•  Use city-level growth together with RTO, margin and repeat rate before reallocating acquisition spend.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4526280"/>
            <a:ext cx="4617720" cy="1143000"/>
          </a:xfrm>
          <a:prstGeom prst="roundRect">
            <a:avLst/>
          </a:prstGeom>
          <a:solidFill>
            <a:srgbClr val="F4F5F8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39712" y="4672584"/>
            <a:ext cx="42976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D7D5D"/>
                </a:solidFill>
                <a:latin typeface="Aptos"/>
              </a:rPr>
              <a:t>Recommended market rule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9712" y="5001768"/>
            <a:ext cx="392527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161820"/>
                </a:solidFill>
                <a:latin typeface="Aptos"/>
              </a:rPr>
              <a:t>Scale where growth + repeat + delivered revenue improve together. Avoid scaling on GMV growth alone.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31705" y="6492240"/>
            <a:ext cx="121828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850" b="1" dirty="0" smtClean="0">
                <a:solidFill>
                  <a:srgbClr val="656975"/>
                </a:solidFill>
                <a:latin typeface="Aptos"/>
              </a:rPr>
              <a:t>13</a:t>
            </a:r>
            <a:endParaRPr sz="850" b="1" dirty="0">
              <a:solidFill>
                <a:srgbClr val="65697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58346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20040"/>
            <a:ext cx="137858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 smtClean="0">
                <a:solidFill>
                  <a:srgbClr val="661664"/>
                </a:solidFill>
                <a:latin typeface="Aptos"/>
              </a:rPr>
              <a:t> </a:t>
            </a:r>
            <a:r>
              <a:rPr sz="900" b="1" dirty="0">
                <a:solidFill>
                  <a:srgbClr val="661664"/>
                </a:solidFill>
                <a:latin typeface="Aptos"/>
              </a:rPr>
              <a:t>STRATEGIC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92016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161820"/>
                </a:solidFill>
                <a:latin typeface="Aptos"/>
              </a:rPr>
              <a:t>Three tensions explain most of the current value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9728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A management-friendly way to frame the dashboard is to connect each symptom to a controllable business lever.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33375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536" y="2221992"/>
            <a:ext cx="438912" cy="438912"/>
          </a:xfrm>
          <a:prstGeom prst="ellipse">
            <a:avLst/>
          </a:prstGeom>
          <a:solidFill>
            <a:srgbClr val="B2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276856"/>
            <a:ext cx="4389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2221992"/>
            <a:ext cx="2240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1820"/>
                </a:solidFill>
                <a:latin typeface="Aptos"/>
              </a:rPr>
              <a:t>Demand vs.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27432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61820"/>
                </a:solidFill>
                <a:latin typeface="Aptos"/>
              </a:rPr>
              <a:t>₹42.29M gross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27432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B23F45"/>
                </a:solidFill>
                <a:latin typeface="Aptos"/>
              </a:rPr>
              <a:t>₹24.20M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27432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161820"/>
                </a:solidFill>
                <a:latin typeface="Aptos"/>
              </a:rPr>
              <a:t>Fix failed-delivery economics before adding expensive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011680"/>
            <a:ext cx="33375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62855" y="2221992"/>
            <a:ext cx="438912" cy="438912"/>
          </a:xfrm>
          <a:prstGeom prst="ellipse">
            <a:avLst/>
          </a:prstGeom>
          <a:solidFill>
            <a:srgbClr val="B97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5" y="2276856"/>
            <a:ext cx="4389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7" y="2221992"/>
            <a:ext cx="2240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1820"/>
                </a:solidFill>
                <a:latin typeface="Aptos"/>
              </a:rPr>
              <a:t>Conversion vs.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80360"/>
            <a:ext cx="27432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61820"/>
                </a:solidFill>
                <a:latin typeface="Aptos"/>
              </a:rPr>
              <a:t>Deep discounts can lift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310128"/>
            <a:ext cx="27432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97819"/>
                </a:solidFill>
                <a:latin typeface="Aptos"/>
              </a:rPr>
              <a:t>25%+ discount margin ≈ 23.9%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886200"/>
            <a:ext cx="2655916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161820"/>
                </a:solidFill>
                <a:latin typeface="Aptos"/>
              </a:rPr>
              <a:t>Move from blanket discounting to targeted, contribution-aware offers.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2011680"/>
            <a:ext cx="333756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66176" y="2221992"/>
            <a:ext cx="438912" cy="438912"/>
          </a:xfrm>
          <a:prstGeom prst="ellipse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66176" y="2276856"/>
            <a:ext cx="4389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2221992"/>
            <a:ext cx="2240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1820"/>
                </a:solidFill>
                <a:latin typeface="Aptos"/>
              </a:rPr>
              <a:t>Acquisition vs.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80360"/>
            <a:ext cx="27432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61820"/>
                </a:solidFill>
                <a:latin typeface="Aptos"/>
              </a:rPr>
              <a:t>10K customers in RFM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310128"/>
            <a:ext cx="27432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61664"/>
                </a:solidFill>
                <a:latin typeface="Aptos"/>
              </a:rPr>
              <a:t>Large Lost/Hibernating pool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886200"/>
            <a:ext cx="2610196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161820"/>
                </a:solidFill>
                <a:latin typeface="Aptos"/>
              </a:rPr>
              <a:t>Make the second purchase a designed product experience.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596127"/>
            <a:ext cx="10927080" cy="821297"/>
          </a:xfrm>
          <a:prstGeom prst="roundRect">
            <a:avLst/>
          </a:prstGeom>
          <a:solidFill>
            <a:srgbClr val="F4F5F8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59" y="5742432"/>
            <a:ext cx="106070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61664"/>
                </a:solidFill>
                <a:latin typeface="Aptos"/>
              </a:rPr>
              <a:t>Management implication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6071616"/>
            <a:ext cx="10607040" cy="91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161820"/>
                </a:solidFill>
                <a:latin typeface="Aptos"/>
              </a:rPr>
              <a:t>The operating model should be optimised around delivered, repeatable and profitable orders—not gross order creation.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29380" y="6492240"/>
            <a:ext cx="121828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 dirty="0" smtClean="0">
                <a:solidFill>
                  <a:srgbClr val="656975"/>
                </a:solidFill>
                <a:latin typeface="Aptos"/>
              </a:rPr>
              <a:t>1</a:t>
            </a:r>
            <a:r>
              <a:rPr lang="en-US" sz="850" b="1" dirty="0" smtClean="0">
                <a:solidFill>
                  <a:srgbClr val="656975"/>
                </a:solidFill>
                <a:latin typeface="Aptos"/>
              </a:rPr>
              <a:t>4</a:t>
            </a:r>
            <a:endParaRPr sz="850" b="1" dirty="0">
              <a:solidFill>
                <a:srgbClr val="65697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69076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20040"/>
            <a:ext cx="1384995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 smtClean="0">
                <a:solidFill>
                  <a:srgbClr val="661664"/>
                </a:solidFill>
                <a:latin typeface="Aptos"/>
              </a:rPr>
              <a:t> </a:t>
            </a:r>
            <a:r>
              <a:rPr sz="900" b="1" dirty="0">
                <a:solidFill>
                  <a:srgbClr val="661664"/>
                </a:solidFill>
                <a:latin typeface="Aptos"/>
              </a:rPr>
              <a:t>STRATEGIC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954267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161820"/>
                </a:solidFill>
                <a:latin typeface="Aptos"/>
              </a:rPr>
              <a:t>Four </a:t>
            </a:r>
            <a:r>
              <a:rPr sz="2000" b="1" dirty="0" err="1">
                <a:solidFill>
                  <a:srgbClr val="161820"/>
                </a:solidFill>
                <a:latin typeface="Aptos"/>
              </a:rPr>
              <a:t>workstreams</a:t>
            </a:r>
            <a:r>
              <a:rPr sz="2000" b="1" dirty="0">
                <a:solidFill>
                  <a:srgbClr val="161820"/>
                </a:solidFill>
                <a:latin typeface="Aptos"/>
              </a:rPr>
              <a:t> translate the dashboards into an executable growth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9728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Prioritisation combines value leakage, customer impact, data evidence and implementation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93392"/>
            <a:ext cx="10927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2139696"/>
            <a:ext cx="566928" cy="457200"/>
          </a:xfrm>
          <a:prstGeom prst="roundRect">
            <a:avLst/>
          </a:prstGeom>
          <a:solidFill>
            <a:srgbClr val="B2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249424"/>
            <a:ext cx="56692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121408"/>
            <a:ext cx="23317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61820"/>
                </a:solidFill>
                <a:latin typeface="Aptos"/>
              </a:rPr>
              <a:t>Smart-Confirm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21408"/>
            <a:ext cx="20574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61820"/>
                </a:solidFill>
                <a:latin typeface="Aptos"/>
              </a:rPr>
              <a:t>RTO / cash 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5312" y="2121408"/>
            <a:ext cx="20116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56975"/>
                </a:solidFill>
                <a:latin typeface="Aptos"/>
              </a:rPr>
              <a:t>14.38% 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121408"/>
            <a:ext cx="1920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61820"/>
                </a:solidFill>
                <a:latin typeface="Aptos"/>
              </a:rPr>
              <a:t>Product + 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414016"/>
            <a:ext cx="2743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56975"/>
                </a:solidFill>
                <a:latin typeface="Aptos"/>
              </a:rPr>
              <a:t>Validate → pilot → 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80944"/>
            <a:ext cx="10927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" y="3127248"/>
            <a:ext cx="566928" cy="457200"/>
          </a:xfrm>
          <a:prstGeom prst="round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236976"/>
            <a:ext cx="56692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108960"/>
            <a:ext cx="23317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61820"/>
                </a:solidFill>
                <a:latin typeface="Aptos"/>
              </a:rPr>
              <a:t>Checkout transparency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108960"/>
            <a:ext cx="20574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61820"/>
                </a:solidFill>
                <a:latin typeface="Aptos"/>
              </a:rPr>
              <a:t>Conversion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3108960"/>
            <a:ext cx="20116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56975"/>
                </a:solidFill>
                <a:latin typeface="Aptos"/>
              </a:rPr>
              <a:t>Fee shock 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108960"/>
            <a:ext cx="1920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61820"/>
                </a:solidFill>
                <a:latin typeface="Aptos"/>
              </a:rPr>
              <a:t>Product +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401568"/>
            <a:ext cx="2743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56975"/>
                </a:solidFill>
                <a:latin typeface="Aptos"/>
              </a:rPr>
              <a:t>Validate → pilot → 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68496"/>
            <a:ext cx="10927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2" y="4114800"/>
            <a:ext cx="566928" cy="457200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224528"/>
            <a:ext cx="56692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096511"/>
            <a:ext cx="23317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61820"/>
                </a:solidFill>
                <a:latin typeface="Aptos"/>
              </a:rPr>
              <a:t>Retention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096511"/>
            <a:ext cx="20574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61820"/>
                </a:solidFill>
                <a:latin typeface="Aptos"/>
              </a:rPr>
              <a:t>Second purchase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4096511"/>
            <a:ext cx="20116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56975"/>
                </a:solidFill>
                <a:latin typeface="Aptos"/>
              </a:rPr>
              <a:t>M1 ≈ 31%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096511"/>
            <a:ext cx="1920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61820"/>
                </a:solidFill>
                <a:latin typeface="Aptos"/>
              </a:rPr>
              <a:t>CRM + 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4389120"/>
            <a:ext cx="2743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56975"/>
                </a:solidFill>
                <a:latin typeface="Aptos"/>
              </a:rPr>
              <a:t>Validate → pilot → scale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56048"/>
            <a:ext cx="10927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4672" y="5102352"/>
            <a:ext cx="566928" cy="457200"/>
          </a:xfrm>
          <a:prstGeom prst="roundRect">
            <a:avLst/>
          </a:prstGeom>
          <a:solidFill>
            <a:srgbClr val="B97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5212080"/>
            <a:ext cx="56692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8" y="5084064"/>
            <a:ext cx="23317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61820"/>
                </a:solidFill>
                <a:latin typeface="Aptos"/>
              </a:rPr>
              <a:t>Margin-aware offers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084064"/>
            <a:ext cx="20574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61820"/>
                </a:solidFill>
                <a:latin typeface="Aptos"/>
              </a:rPr>
              <a:t>Contribution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5312" y="5084064"/>
            <a:ext cx="20116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56975"/>
                </a:solidFill>
                <a:latin typeface="Aptos"/>
              </a:rPr>
              <a:t>25%+ discount ≈ 23.9%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5084064"/>
            <a:ext cx="1920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61820"/>
                </a:solidFill>
                <a:latin typeface="Aptos"/>
              </a:rPr>
              <a:t>Growth + Merch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2768" y="5376672"/>
            <a:ext cx="2743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56975"/>
                </a:solidFill>
                <a:latin typeface="Aptos"/>
              </a:rPr>
              <a:t>Validate → pilot → scale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888736"/>
            <a:ext cx="10927080" cy="365760"/>
          </a:xfrm>
          <a:prstGeom prst="roundRect">
            <a:avLst/>
          </a:prstGeom>
          <a:solidFill>
            <a:srgbClr val="F4F5F8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5979283"/>
            <a:ext cx="60683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661664"/>
                </a:solidFill>
                <a:latin typeface="Aptos"/>
              </a:rPr>
              <a:t>Rule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40433" y="6538818"/>
            <a:ext cx="121828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 dirty="0" smtClean="0">
                <a:solidFill>
                  <a:srgbClr val="656975"/>
                </a:solidFill>
                <a:latin typeface="Aptos"/>
              </a:rPr>
              <a:t>1</a:t>
            </a:r>
            <a:r>
              <a:rPr lang="en-US" sz="850" b="1" dirty="0" smtClean="0">
                <a:solidFill>
                  <a:srgbClr val="656975"/>
                </a:solidFill>
                <a:latin typeface="Aptos"/>
              </a:rPr>
              <a:t>5</a:t>
            </a:r>
            <a:endParaRPr sz="850" b="1" dirty="0">
              <a:solidFill>
                <a:srgbClr val="656975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11501" y="5979283"/>
            <a:ext cx="6876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161820"/>
                </a:solidFill>
                <a:latin typeface="Aptos"/>
              </a:rPr>
              <a:t>No initiative scales without a measured control group or before/after KPI definition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91608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24713" y="320040"/>
            <a:ext cx="139781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 smtClean="0">
                <a:solidFill>
                  <a:srgbClr val="661664"/>
                </a:solidFill>
                <a:latin typeface="Aptos"/>
              </a:rPr>
              <a:t>CONVERSION </a:t>
            </a:r>
            <a:r>
              <a:rPr sz="900" b="1" dirty="0">
                <a:solidFill>
                  <a:srgbClr val="661664"/>
                </a:solidFill>
                <a:latin typeface="Aptos"/>
              </a:rPr>
              <a:t>INITIATIVE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4713" y="658368"/>
            <a:ext cx="797654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161820"/>
                </a:solidFill>
                <a:latin typeface="Aptos"/>
              </a:rPr>
              <a:t>Remove the checkout surprise before asking the customer to 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713" y="1188720"/>
            <a:ext cx="109728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The project brief identifies delivery-fee visibility as a controllable checkout-friction hypothesis.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1017" y="1920240"/>
            <a:ext cx="38862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TextBox 6"/>
          <p:cNvSpPr txBox="1"/>
          <p:nvPr/>
        </p:nvSpPr>
        <p:spPr>
          <a:xfrm>
            <a:off x="917905" y="2148840"/>
            <a:ext cx="122770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61664"/>
                </a:solidFill>
                <a:latin typeface="Aptos"/>
              </a:rPr>
              <a:t>PRODUCT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905" y="2514600"/>
            <a:ext cx="137582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61820"/>
                </a:solidFill>
                <a:latin typeface="Aptos"/>
              </a:rPr>
              <a:t>Kurti / Ethnic Wear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905" y="2907792"/>
            <a:ext cx="33983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61820"/>
                </a:solidFill>
                <a:latin typeface="Aptos"/>
              </a:rPr>
              <a:t>₹499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905" y="3429000"/>
            <a:ext cx="102752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56975"/>
                </a:solidFill>
                <a:latin typeface="Aptos"/>
              </a:rPr>
              <a:t>Enter pincode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5185" y="3355848"/>
            <a:ext cx="1600200" cy="411480"/>
          </a:xfrm>
          <a:prstGeom prst="roundRect">
            <a:avLst/>
          </a:prstGeom>
          <a:solidFill>
            <a:srgbClr val="F4F5F8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2152345" y="3474720"/>
            <a:ext cx="50129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61820"/>
                </a:solidFill>
                <a:latin typeface="Aptos"/>
              </a:rPr>
              <a:t>411001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905" y="4005072"/>
            <a:ext cx="13320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D7D5D"/>
                </a:solidFill>
                <a:latin typeface="Aptos"/>
              </a:rPr>
              <a:t>Delivery by 14 Oct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905" y="4370832"/>
            <a:ext cx="164628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Shipping + handling ₹49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1265" y="1920240"/>
            <a:ext cx="38404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215585" y="2148840"/>
            <a:ext cx="42639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61664"/>
                </a:solidFill>
                <a:latin typeface="Aptos"/>
              </a:rPr>
              <a:t>CART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5585" y="2651760"/>
            <a:ext cx="63318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Item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0427" y="2651760"/>
            <a:ext cx="33983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₹499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5585" y="3035808"/>
            <a:ext cx="55303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5387" y="3035808"/>
            <a:ext cx="25487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61820"/>
                </a:solidFill>
                <a:latin typeface="Aptos"/>
              </a:rPr>
              <a:t>₹49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5585" y="3529584"/>
            <a:ext cx="17200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61820"/>
                </a:solidFill>
                <a:latin typeface="Aptos"/>
              </a:rPr>
              <a:t>Free-shipping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5585" y="3840480"/>
            <a:ext cx="2697480" cy="164592"/>
          </a:xfrm>
          <a:prstGeom prst="roundRect">
            <a:avLst/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Rounded Rectangle 22"/>
          <p:cNvSpPr/>
          <p:nvPr/>
        </p:nvSpPr>
        <p:spPr>
          <a:xfrm>
            <a:off x="5215585" y="3840480"/>
            <a:ext cx="1600200" cy="164592"/>
          </a:xfrm>
          <a:prstGeom prst="round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5215585" y="4133087"/>
            <a:ext cx="223298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D7D5D"/>
                </a:solidFill>
                <a:latin typeface="Aptos"/>
              </a:rPr>
              <a:t>Add ₹149 to unlock free shipping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433" y="4553712"/>
            <a:ext cx="67063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661664"/>
                </a:solidFill>
                <a:latin typeface="Aptos"/>
              </a:rPr>
              <a:t>PAY ₹548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6065" y="1920240"/>
            <a:ext cx="2514600" cy="3337560"/>
          </a:xfrm>
          <a:prstGeom prst="roundRect">
            <a:avLst/>
          </a:prstGeom>
          <a:solidFill>
            <a:srgbClr val="F4F5F8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7" name="TextBox 26"/>
          <p:cNvSpPr txBox="1"/>
          <p:nvPr/>
        </p:nvSpPr>
        <p:spPr>
          <a:xfrm>
            <a:off x="9220657" y="2066544"/>
            <a:ext cx="177593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61664"/>
                </a:solidFill>
                <a:latin typeface="Aptos"/>
              </a:rPr>
              <a:t>Target from project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0657" y="2395728"/>
            <a:ext cx="2144268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161820"/>
                </a:solidFill>
                <a:latin typeface="Aptos"/>
              </a:rPr>
              <a:t>Reduce </a:t>
            </a:r>
            <a:r>
              <a:rPr sz="1200" b="0" dirty="0" err="1">
                <a:solidFill>
                  <a:srgbClr val="161820"/>
                </a:solidFill>
                <a:latin typeface="Aptos"/>
              </a:rPr>
              <a:t>cart→checkout</a:t>
            </a:r>
            <a:r>
              <a:rPr sz="1200" b="0" dirty="0">
                <a:solidFill>
                  <a:srgbClr val="161820"/>
                </a:solidFill>
                <a:latin typeface="Aptos"/>
              </a:rPr>
              <a:t> drop from 42% to 32%.
At the planning assumptions in the brief, that could add ~1,745 orders per 100K searches.
This is a scenario estimate; instrument and validate before using it for a business case.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87165" y="6492240"/>
            <a:ext cx="121828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 dirty="0" smtClean="0">
                <a:solidFill>
                  <a:srgbClr val="656975"/>
                </a:solidFill>
                <a:latin typeface="Aptos"/>
              </a:rPr>
              <a:t>1</a:t>
            </a:r>
            <a:r>
              <a:rPr lang="en-US" sz="850" b="1" dirty="0" smtClean="0">
                <a:solidFill>
                  <a:srgbClr val="656975"/>
                </a:solidFill>
                <a:latin typeface="Aptos"/>
              </a:rPr>
              <a:t>6</a:t>
            </a:r>
            <a:endParaRPr sz="850" b="1" dirty="0">
              <a:solidFill>
                <a:srgbClr val="65697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70631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20040"/>
            <a:ext cx="128881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 smtClean="0">
                <a:solidFill>
                  <a:srgbClr val="661664"/>
                </a:solidFill>
                <a:latin typeface="Aptos"/>
              </a:rPr>
              <a:t>RETENTION </a:t>
            </a:r>
            <a:r>
              <a:rPr sz="900" b="1" dirty="0">
                <a:solidFill>
                  <a:srgbClr val="661664"/>
                </a:solidFill>
                <a:latin typeface="Aptos"/>
              </a:rPr>
              <a:t>INITIATIVE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710470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161820"/>
                </a:solidFill>
                <a:latin typeface="Aptos"/>
              </a:rPr>
              <a:t>Make the second purchase a designed journey, not a hope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9728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The cohort matrix suggests a steep first-month drop followed by a stable retained 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96312"/>
            <a:ext cx="10241280" cy="32004"/>
          </a:xfrm>
          <a:prstGeom prst="rect">
            <a:avLst/>
          </a:prstGeom>
          <a:solidFill>
            <a:srgbClr val="E0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Oval 6"/>
          <p:cNvSpPr/>
          <p:nvPr/>
        </p:nvSpPr>
        <p:spPr>
          <a:xfrm>
            <a:off x="804672" y="2404872"/>
            <a:ext cx="219456" cy="219456"/>
          </a:xfrm>
          <a:prstGeom prst="ellipse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659779" y="2057400"/>
            <a:ext cx="5092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61664"/>
                </a:solidFill>
                <a:latin typeface="Aptos"/>
              </a:rPr>
              <a:t>DAY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747" y="2724912"/>
            <a:ext cx="69730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61820"/>
                </a:solidFill>
                <a:latin typeface="Aptos"/>
              </a:rPr>
              <a:t>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3172968"/>
            <a:ext cx="1499616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656975"/>
                </a:solidFill>
                <a:latin typeface="Aptos"/>
              </a:rPr>
              <a:t>CSAT + order
experience</a:t>
            </a:r>
          </a:p>
        </p:txBody>
      </p:sp>
      <p:sp>
        <p:nvSpPr>
          <p:cNvPr id="11" name="Oval 10"/>
          <p:cNvSpPr/>
          <p:nvPr/>
        </p:nvSpPr>
        <p:spPr>
          <a:xfrm>
            <a:off x="3364991" y="2404872"/>
            <a:ext cx="219456" cy="219456"/>
          </a:xfrm>
          <a:prstGeom prst="ellipse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3220098" y="2057400"/>
            <a:ext cx="5092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61664"/>
                </a:solidFill>
                <a:latin typeface="Aptos"/>
              </a:rPr>
              <a:t>DAY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2291" y="2724912"/>
            <a:ext cx="88485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61820"/>
                </a:solidFill>
                <a:latin typeface="Aptos"/>
              </a:rPr>
              <a:t>Relevance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8328" y="3172968"/>
            <a:ext cx="1272784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656975"/>
                </a:solidFill>
                <a:latin typeface="Aptos"/>
              </a:rPr>
              <a:t>Category-based
cross-sell</a:t>
            </a:r>
          </a:p>
        </p:txBody>
      </p:sp>
      <p:sp>
        <p:nvSpPr>
          <p:cNvPr id="15" name="Oval 14"/>
          <p:cNvSpPr/>
          <p:nvPr/>
        </p:nvSpPr>
        <p:spPr>
          <a:xfrm>
            <a:off x="5925312" y="2404872"/>
            <a:ext cx="219456" cy="219456"/>
          </a:xfrm>
          <a:prstGeom prst="ellipse">
            <a:avLst/>
          </a:prstGeom>
          <a:solidFill>
            <a:srgbClr val="DC1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5780418" y="2057400"/>
            <a:ext cx="5092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61664"/>
                </a:solidFill>
                <a:latin typeface="Aptos"/>
              </a:rPr>
              <a:t>DAY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7915" y="2724912"/>
            <a:ext cx="77425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61820"/>
                </a:solidFill>
                <a:latin typeface="Aptos"/>
              </a:rPr>
              <a:t>Incentive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2767" y="3172968"/>
            <a:ext cx="1144544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656975"/>
                </a:solidFill>
                <a:latin typeface="Aptos"/>
              </a:rPr>
              <a:t>Time-boxed
welcome-back</a:t>
            </a:r>
          </a:p>
        </p:txBody>
      </p:sp>
      <p:sp>
        <p:nvSpPr>
          <p:cNvPr id="19" name="Oval 18"/>
          <p:cNvSpPr/>
          <p:nvPr/>
        </p:nvSpPr>
        <p:spPr>
          <a:xfrm>
            <a:off x="8485632" y="2404872"/>
            <a:ext cx="219456" cy="219456"/>
          </a:xfrm>
          <a:prstGeom prst="ellipse">
            <a:avLst/>
          </a:prstGeom>
          <a:solidFill>
            <a:srgbClr val="DC1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8291045" y="2057400"/>
            <a:ext cx="60862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61664"/>
                </a:solidFill>
                <a:latin typeface="Aptos"/>
              </a:rPr>
              <a:t>DAY 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7088" y="2724912"/>
            <a:ext cx="7165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61820"/>
                </a:solidFill>
                <a:latin typeface="Aptos"/>
              </a:rPr>
              <a:t>Urgency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7476" y="3172968"/>
            <a:ext cx="1155765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656975"/>
                </a:solidFill>
                <a:latin typeface="Aptos"/>
              </a:rPr>
              <a:t>Wishlist / price
drop alert</a:t>
            </a:r>
          </a:p>
        </p:txBody>
      </p:sp>
      <p:sp>
        <p:nvSpPr>
          <p:cNvPr id="23" name="Oval 22"/>
          <p:cNvSpPr/>
          <p:nvPr/>
        </p:nvSpPr>
        <p:spPr>
          <a:xfrm>
            <a:off x="11045952" y="2404872"/>
            <a:ext cx="219456" cy="219456"/>
          </a:xfrm>
          <a:prstGeom prst="ellipse">
            <a:avLst/>
          </a:prstGeom>
          <a:solidFill>
            <a:srgbClr val="DC1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10799268" y="2057400"/>
            <a:ext cx="71282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61664"/>
                </a:solidFill>
                <a:latin typeface="Aptos"/>
              </a:rPr>
              <a:t>DAY 30+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8936" y="2724912"/>
            <a:ext cx="79348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61820"/>
                </a:solidFill>
                <a:latin typeface="Aptos"/>
              </a:rPr>
              <a:t>Win-back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88404" y="3172968"/>
            <a:ext cx="934551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656975"/>
                </a:solidFill>
                <a:latin typeface="Aptos"/>
              </a:rPr>
              <a:t>RFM-driven
reactivation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709160"/>
            <a:ext cx="2514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" y="4709160"/>
            <a:ext cx="54864" cy="914400"/>
          </a:xfrm>
          <a:prstGeom prst="rect">
            <a:avLst/>
          </a:prstGeom>
          <a:solidFill>
            <a:srgbClr val="66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" y="4855464"/>
            <a:ext cx="846386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56975"/>
                </a:solidFill>
                <a:latin typeface="Aptos"/>
              </a:rPr>
              <a:t>COHORT M1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105677"/>
            <a:ext cx="22402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161820"/>
                </a:solidFill>
                <a:latin typeface="Aptos"/>
              </a:rPr>
              <a:t>31.5%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025" y="5694218"/>
            <a:ext cx="156934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656975"/>
                </a:solidFill>
                <a:latin typeface="Aptos"/>
              </a:rPr>
              <a:t>Current matrix average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4709160"/>
            <a:ext cx="2514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566160" y="4709160"/>
            <a:ext cx="54864" cy="914400"/>
          </a:xfrm>
          <a:prstGeom prst="rect">
            <a:avLst/>
          </a:prstGeom>
          <a:solidFill>
            <a:srgbClr val="2D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30752" y="4855464"/>
            <a:ext cx="27411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56975"/>
                </a:solidFill>
                <a:latin typeface="Aptos"/>
              </a:rPr>
              <a:t>M12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0752" y="5120640"/>
            <a:ext cx="22402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61820"/>
                </a:solidFill>
                <a:latin typeface="Aptos"/>
              </a:rPr>
              <a:t>1.7%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5720819"/>
            <a:ext cx="156934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6975"/>
                </a:solidFill>
                <a:latin typeface="Aptos"/>
              </a:rPr>
              <a:t>Current matrix average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709160"/>
            <a:ext cx="2514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60" y="4709160"/>
            <a:ext cx="54864" cy="914400"/>
          </a:xfrm>
          <a:prstGeom prst="rect">
            <a:avLst/>
          </a:prstGeom>
          <a:solidFill>
            <a:srgbClr val="B2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4855464"/>
            <a:ext cx="56586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56975"/>
                </a:solidFill>
                <a:latin typeface="Aptos"/>
              </a:rPr>
              <a:t>AT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5120640"/>
            <a:ext cx="22402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61820"/>
                </a:solidFill>
                <a:latin typeface="Aptos"/>
              </a:rPr>
              <a:t>348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5718325"/>
            <a:ext cx="165590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656975"/>
                </a:solidFill>
                <a:latin typeface="Aptos"/>
              </a:rPr>
              <a:t>Customers in RFM base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470916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052560" y="4709160"/>
            <a:ext cx="54864" cy="914400"/>
          </a:xfrm>
          <a:prstGeom prst="rect">
            <a:avLst/>
          </a:prstGeom>
          <a:solidFill>
            <a:srgbClr val="B97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17152" y="4855464"/>
            <a:ext cx="1474763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56975"/>
                </a:solidFill>
                <a:latin typeface="Aptos"/>
              </a:rPr>
              <a:t>LOST / HIBERNATING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5120640"/>
            <a:ext cx="20116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61820"/>
                </a:solidFill>
                <a:latin typeface="Aptos"/>
              </a:rPr>
              <a:t>3,338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3999" y="5720819"/>
            <a:ext cx="114294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656975"/>
                </a:solidFill>
                <a:latin typeface="Aptos"/>
              </a:rPr>
              <a:t>Largest segment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01744" y="6492240"/>
            <a:ext cx="121828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 dirty="0" smtClean="0">
                <a:solidFill>
                  <a:srgbClr val="656975"/>
                </a:solidFill>
                <a:latin typeface="Aptos"/>
              </a:rPr>
              <a:t>1</a:t>
            </a:r>
            <a:r>
              <a:rPr lang="en-US" sz="850" b="1" dirty="0" smtClean="0">
                <a:solidFill>
                  <a:srgbClr val="656975"/>
                </a:solidFill>
                <a:latin typeface="Aptos"/>
              </a:rPr>
              <a:t>7</a:t>
            </a:r>
            <a:endParaRPr sz="850" b="1" dirty="0">
              <a:solidFill>
                <a:srgbClr val="65697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86888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&amp; COHORTS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repeat-purchase baseline is stable around one-third after month 1.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Cohorts are keyed on first order month, which keeps the analysis inside the sales window.</a:t>
            </a:r>
            <a:endParaRPr lang="en-US" sz="1100" dirty="0"/>
          </a:p>
        </p:txBody>
      </p:sp>
      <p:pic>
        <p:nvPicPr>
          <p:cNvPr id="5" name="Image 0" descr="/mnt/data/meesho_pkg/mesho Data files/cohort_retention_heatmap.png"/>
          <p:cNvPicPr>
            <a:picLocks noChangeAspect="1"/>
          </p:cNvPicPr>
          <p:nvPr/>
        </p:nvPicPr>
        <p:blipFill>
          <a:blip r:embed="rId3"/>
          <a:srcRect l="2958" r="2958"/>
          <a:stretch/>
        </p:blipFill>
        <p:spPr>
          <a:xfrm>
            <a:off x="566928" y="1664208"/>
            <a:ext cx="745236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47888" y="1773936"/>
            <a:ext cx="3328416" cy="4187952"/>
          </a:xfrm>
          <a:prstGeom prst="roundRect">
            <a:avLst>
              <a:gd name="adj" fmla="val 164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22208" y="2011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READOUT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85632" y="248716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33.1%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893808" y="25786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pooled retention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03920" y="3145536"/>
            <a:ext cx="2724912" cy="0"/>
          </a:xfrm>
          <a:prstGeom prst="line">
            <a:avLst/>
          </a:prstGeom>
          <a:noFill/>
          <a:ln w="10160">
            <a:solidFill>
              <a:srgbClr val="E4DF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85632" y="336499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34.1%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893808" y="34472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retention KPI in the model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22208" y="4078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next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22208" y="4370832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Protect high-value cohorts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one-click reorder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Measure win-back by segment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Separate “retention” from “reactivation”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ANALYTICS TO ACTION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bottlenecks connect directly to measurable business outcomes.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bridge between a dashboard and a product/business recommendation.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364992" cy="356616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99339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8E9F1"/>
          </a:solidFill>
          <a:ln w="12700">
            <a:solidFill>
              <a:srgbClr val="F8E9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11680"/>
            <a:ext cx="356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26464" y="19933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/ address quality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587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14.38% RTO rate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" y="3072384"/>
            <a:ext cx="2871216" cy="0"/>
          </a:xfrm>
          <a:prstGeom prst="line">
            <a:avLst/>
          </a:prstGeom>
          <a:noFill/>
          <a:ln w="10160">
            <a:solidFill>
              <a:srgbClr val="E4DF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2735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" y="352958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avoidable failed delivery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" y="43159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RESPONSE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" y="4608576"/>
            <a:ext cx="1965960" cy="256032"/>
          </a:xfrm>
          <a:prstGeom prst="roundRect">
            <a:avLst>
              <a:gd name="adj" fmla="val 21429"/>
            </a:avLst>
          </a:prstGeom>
          <a:solidFill>
            <a:srgbClr val="F8E9F1"/>
          </a:solidFill>
          <a:ln w="12700">
            <a:solidFill>
              <a:srgbClr val="F8E9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62686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Smart-Confirm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1783080"/>
            <a:ext cx="3364992" cy="356616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98848" y="199339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EF3DF"/>
          </a:solidFill>
          <a:ln w="12700">
            <a:solidFill>
              <a:srgbClr val="FEF3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011680"/>
            <a:ext cx="356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157216" y="19933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Cart-to-checkout drop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17136" y="2587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6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documented drop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17136" y="3072384"/>
            <a:ext cx="2871216" cy="0"/>
          </a:xfrm>
          <a:prstGeom prst="line">
            <a:avLst/>
          </a:prstGeom>
          <a:noFill/>
          <a:ln w="10160">
            <a:solidFill>
              <a:srgbClr val="E4DF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7136" y="32735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17136" y="352958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cost / delivery expectations transparent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17136" y="43159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RESPONSE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17136" y="4608576"/>
            <a:ext cx="1965960" cy="256032"/>
          </a:xfrm>
          <a:prstGeom prst="roundRect">
            <a:avLst>
              <a:gd name="adj" fmla="val 21429"/>
            </a:avLst>
          </a:prstGeom>
          <a:solidFill>
            <a:srgbClr val="FEF3DF"/>
          </a:solidFill>
          <a:ln w="12700">
            <a:solidFill>
              <a:srgbClr val="FEF3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462686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+ pincode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1783080"/>
            <a:ext cx="3364992" cy="356616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199339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2752" y="2011680"/>
            <a:ext cx="356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887968" y="19933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Repeat-purchase growth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47888" y="2587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retention ~33%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47888" y="3072384"/>
            <a:ext cx="2871216" cy="0"/>
          </a:xfrm>
          <a:prstGeom prst="line">
            <a:avLst/>
          </a:prstGeom>
          <a:noFill/>
          <a:ln w="10160">
            <a:solidFill>
              <a:srgbClr val="E4DF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7888" y="32735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47888" y="352958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friction for the next purchase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47888" y="43159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RESPONSE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47888" y="4608576"/>
            <a:ext cx="1965960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462686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reorder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563270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chain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572768" y="561441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 →  Root cause  →  Impact  →  Intervention  →  KPI</a:t>
            </a:r>
            <a:endParaRPr lang="en-US" sz="12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RECOMMENDATION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Smart-Confirm turns an operational leak into a measurable product intervention.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7957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 combines pincode validation, address quality and proactive COD confirmation.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4572000" cy="4407408"/>
          </a:xfrm>
          <a:prstGeom prst="roundRect">
            <a:avLst>
              <a:gd name="adj" fmla="val 1245"/>
            </a:avLst>
          </a:prstGeom>
          <a:solidFill>
            <a:srgbClr val="EFE5ED"/>
          </a:solidFill>
          <a:ln w="10160">
            <a:solidFill>
              <a:srgbClr val="EFE5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65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SMART-CONFIRM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34086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COD verification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address hygiene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41248" y="3401568"/>
            <a:ext cx="15087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34747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Pincode check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05456" y="3401568"/>
            <a:ext cx="2048256" cy="402336"/>
          </a:xfrm>
          <a:prstGeom prst="roundRect">
            <a:avLst>
              <a:gd name="adj" fmla="val 13636"/>
            </a:avLst>
          </a:prstGeom>
          <a:solidFill>
            <a:srgbClr val="FAF8FA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34747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3913632"/>
            <a:ext cx="15087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98678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 score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05456" y="3913632"/>
            <a:ext cx="2048256" cy="402336"/>
          </a:xfrm>
          <a:prstGeom prst="roundRect">
            <a:avLst>
              <a:gd name="adj" fmla="val 13636"/>
            </a:avLst>
          </a:prstGeom>
          <a:solidFill>
            <a:srgbClr val="FAF8FA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39867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4425696"/>
            <a:ext cx="15087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44988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confirm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05456" y="4425696"/>
            <a:ext cx="2048256" cy="402336"/>
          </a:xfrm>
          <a:prstGeom prst="roundRect">
            <a:avLst>
              <a:gd name="adj" fmla="val 13636"/>
            </a:avLst>
          </a:prstGeom>
          <a:solidFill>
            <a:srgbClr val="FAF8FA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5184" y="44988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/ CANCEL / EDIT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" y="4937760"/>
            <a:ext cx="15087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50109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gate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05456" y="4937760"/>
            <a:ext cx="2048256" cy="402336"/>
          </a:xfrm>
          <a:prstGeom prst="roundRect">
            <a:avLst>
              <a:gd name="adj" fmla="val 13636"/>
            </a:avLst>
          </a:prstGeom>
          <a:solidFill>
            <a:srgbClr val="FAF8FA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15184" y="50109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/ hold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13248" y="1700784"/>
            <a:ext cx="2871216" cy="4407408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19751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METRIC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50992" y="23591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14.38% → 11.0%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27797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RTO rate in 2-quarter scenario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0" y="3264408"/>
            <a:ext cx="2340864" cy="0"/>
          </a:xfrm>
          <a:prstGeom prst="line">
            <a:avLst/>
          </a:prstGeom>
          <a:noFill/>
          <a:ln w="10160">
            <a:solidFill>
              <a:srgbClr val="E4DF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34930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case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3794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~₹1.45M protected value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4224528"/>
            <a:ext cx="23042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impact uses the documented 68% COD-attributed RTO assumption and ₹100 freight / RTO assumption; both should be validated against live event data.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58784" y="1700784"/>
            <a:ext cx="3017520" cy="4407408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33104" y="1975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833104" y="2404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A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07424" y="237744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&lt;200 ms p95 AQI scoring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833104" y="2971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A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07424" y="294436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queued within 60 sec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833104" y="35387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A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07424" y="351129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fallback on API failure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33104" y="41056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A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07424" y="407822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+ opt-out respected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833104" y="4672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A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07424" y="4645152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holdout to watch conversion</a:t>
            </a:r>
            <a:endParaRPr lang="en-US" sz="12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 starts with interventions nearest to the measured value leaks.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scores in the project are planning estimates, not observed business outcomes.</a:t>
            </a:r>
            <a:endParaRPr lang="en-US" sz="1100" dirty="0"/>
          </a:p>
        </p:txBody>
      </p:sp>
      <p:pic>
        <p:nvPicPr>
          <p:cNvPr id="5" name="Image 0" descr="/mnt/data/meesho_assets/rice_prio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08263"/>
            <a:ext cx="6583680" cy="33420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88352" y="1719072"/>
            <a:ext cx="4187952" cy="4517136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62672" y="1975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ROADMAP BETS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62672" y="2450592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8E9F1"/>
          </a:solidFill>
          <a:ln w="12700">
            <a:solidFill>
              <a:srgbClr val="F8E9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35824" y="246888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02752" y="24505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COD verification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25328" y="245059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4,080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62672" y="3163824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EF3DF"/>
          </a:solidFill>
          <a:ln w="12700">
            <a:solidFill>
              <a:srgbClr val="FEF3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35824" y="318211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02752" y="31638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Pincode delivery estimate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25328" y="316382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3,040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62672" y="387705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35824" y="389534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02752" y="387705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reorder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625328" y="387705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2,554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4718304"/>
            <a:ext cx="3493008" cy="0"/>
          </a:xfrm>
          <a:prstGeom prst="line">
            <a:avLst/>
          </a:prstGeom>
          <a:noFill/>
          <a:ln w="10160">
            <a:solidFill>
              <a:srgbClr val="E4DF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49560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= Reach × Impact × Confidence / Effort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662672" y="5321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scoring framework creates a transparent way to discuss trade-offs with Product, Growth and Operations.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3-QUARTER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the work: instrument → reduce leakage → improve repeat purchase → scale.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plan preserves measurement and avoids shipping the full intervention before the baseline is trustworthy.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847088"/>
            <a:ext cx="3364992" cy="347472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847088"/>
            <a:ext cx="3364992" cy="493776"/>
          </a:xfrm>
          <a:prstGeom prst="rect">
            <a:avLst/>
          </a:prstGeom>
          <a:solidFill>
            <a:srgbClr val="5A0A52"/>
          </a:solidFill>
          <a:ln w="12700">
            <a:solidFill>
              <a:srgbClr val="5A0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98424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34056" y="19842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S1–S6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" y="26334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651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53312" y="26151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Pincode validation + AQI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" y="336499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3832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53312" y="33467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COD verification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" y="409651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41148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53312" y="40782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Pre-checkout fee / ETA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15968" y="1847088"/>
            <a:ext cx="3364992" cy="347472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1847088"/>
            <a:ext cx="3364992" cy="493776"/>
          </a:xfrm>
          <a:prstGeom prst="rect">
            <a:avLst/>
          </a:prstGeom>
          <a:solidFill>
            <a:srgbClr val="C94C86"/>
          </a:solidFill>
          <a:ln w="12700">
            <a:solidFill>
              <a:srgbClr val="C94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7136" y="198424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19842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S7–S12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17136" y="26334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F8E9F1"/>
          </a:solidFill>
          <a:ln w="12700">
            <a:solidFill>
              <a:srgbClr val="F8E9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2651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84064" y="26151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incentive test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17136" y="336499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F8E9F1"/>
          </a:solidFill>
          <a:ln w="12700">
            <a:solidFill>
              <a:srgbClr val="F8E9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33832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84064" y="33467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reorder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17136" y="409651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F8E9F1"/>
          </a:solidFill>
          <a:ln w="12700">
            <a:solidFill>
              <a:srgbClr val="F8E9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41148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84064" y="40782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transparency experiments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1847088"/>
            <a:ext cx="3364992" cy="347472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1847088"/>
            <a:ext cx="3364992" cy="493776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7888" y="198424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195560" y="19842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S13–S18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47888" y="26334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2651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814816" y="26151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Reseller sharing / attribution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47888" y="336499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33832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14816" y="33467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Smart-Confirm v2 risk scoring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247888" y="409651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0" y="41148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814816" y="40782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dashboard + monitoring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85216" y="5650992"/>
            <a:ext cx="1517904" cy="50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principle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186247" y="565099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release gets a baseline, a target KPI, a holdout / test design where practical, and an owner.</a:t>
            </a:r>
            <a:endParaRPr lang="en-US" sz="12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FRAMEWORK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is not “feature shipped”; success is a measurable shift in the business funnel.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guardrail metrics alongside the target metric to avoid fixing one KPI by damaging another.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166360" cy="1417320"/>
          </a:xfrm>
          <a:prstGeom prst="roundRect">
            <a:avLst>
              <a:gd name="adj" fmla="val 3871"/>
            </a:avLst>
          </a:prstGeom>
          <a:solidFill>
            <a:srgbClr val="F8E9F1"/>
          </a:solidFill>
          <a:ln w="10160">
            <a:solidFill>
              <a:srgbClr val="F8E9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9842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9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REDUCTION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22860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RTO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35808" y="227685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Guardrails: COD conversion, cancellation, support contacts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166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936" y="19842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9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RECOVERY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5936" y="22860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cart→checkout drop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0" y="227685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Guardrails: AOV, margin, payment mix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566160"/>
            <a:ext cx="5166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7673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9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" y="4069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repeat-order share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35808" y="405993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Guardrails: discount cost, retention by segment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566160"/>
            <a:ext cx="5166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37673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9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VALUE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5936" y="4069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monetary value / CLV proxy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95360" y="405993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Guardrails: CAC, margin, service cost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546811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LOOP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74243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FE5ED"/>
          </a:solidFill>
          <a:ln w="10160">
            <a:solidFill>
              <a:srgbClr val="EFE5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58430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25496" y="5934456"/>
            <a:ext cx="347472" cy="0"/>
          </a:xfrm>
          <a:prstGeom prst="line">
            <a:avLst/>
          </a:prstGeom>
          <a:noFill/>
          <a:ln w="17780">
            <a:solidFill>
              <a:srgbClr val="C94C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574243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F8E9F1"/>
          </a:solidFill>
          <a:ln w="10160">
            <a:solidFill>
              <a:srgbClr val="F8E9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58430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22976" y="5934456"/>
            <a:ext cx="347472" cy="0"/>
          </a:xfrm>
          <a:prstGeom prst="line">
            <a:avLst/>
          </a:prstGeom>
          <a:noFill/>
          <a:ln w="17780">
            <a:solidFill>
              <a:srgbClr val="C94C8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61888" y="574243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FEF3DF"/>
          </a:solidFill>
          <a:ln w="10160">
            <a:solidFill>
              <a:srgbClr val="FEF3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71616" y="58430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or holdout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0456" y="5934456"/>
            <a:ext cx="347472" cy="0"/>
          </a:xfrm>
          <a:prstGeom prst="line">
            <a:avLst/>
          </a:prstGeom>
          <a:noFill/>
          <a:ln w="17780">
            <a:solidFill>
              <a:srgbClr val="C94C8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59368" y="574243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FE5ED"/>
          </a:solidFill>
          <a:ln w="10160">
            <a:solidFill>
              <a:srgbClr val="EFE5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69096" y="58430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readout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DELIVERY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is end-to-end: data model, SQL, Python, Power BI, business artefacts and a natural-language analyst.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layer is deliberately last — analytics must remain traceable to governed data.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664208"/>
            <a:ext cx="420624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6824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43584" y="16733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67712" y="16550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+ synthetic event files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" y="2322576"/>
            <a:ext cx="420624" cy="256032"/>
          </a:xfrm>
          <a:prstGeom prst="roundRect">
            <a:avLst>
              <a:gd name="adj" fmla="val 21429"/>
            </a:avLst>
          </a:prstGeom>
          <a:solidFill>
            <a:srgbClr val="F8E9F1"/>
          </a:solidFill>
          <a:ln w="12700">
            <a:solidFill>
              <a:srgbClr val="F8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3408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43584" y="23317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67712" y="23134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analytical SQL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2980944"/>
            <a:ext cx="420624" cy="256032"/>
          </a:xfrm>
          <a:prstGeom prst="roundRect">
            <a:avLst>
              <a:gd name="adj" fmla="val 21429"/>
            </a:avLst>
          </a:prstGeom>
          <a:solidFill>
            <a:srgbClr val="FEF3DF"/>
          </a:solidFill>
          <a:ln w="12700">
            <a:solidFill>
              <a:srgbClr val="FEF3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9992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43584" y="29900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67712" y="29718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 / RFM / cohorts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" y="3639312"/>
            <a:ext cx="420624" cy="256032"/>
          </a:xfrm>
          <a:prstGeom prst="roundRect">
            <a:avLst>
              <a:gd name="adj" fmla="val 21429"/>
            </a:avLst>
          </a:prstGeom>
          <a:solidFill>
            <a:srgbClr val="EFE5ED"/>
          </a:solidFill>
          <a:ln w="12700">
            <a:solidFill>
              <a:srgbClr val="EFE5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6576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36484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67712" y="36301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/ 46+ measures / DAX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4297680"/>
            <a:ext cx="420624" cy="256032"/>
          </a:xfrm>
          <a:prstGeom prst="roundRect">
            <a:avLst>
              <a:gd name="adj" fmla="val 21429"/>
            </a:avLst>
          </a:prstGeom>
          <a:solidFill>
            <a:srgbClr val="F8E9F1"/>
          </a:solidFill>
          <a:ln w="12700">
            <a:solidFill>
              <a:srgbClr val="F8E9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4315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43584" y="43068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67712" y="428853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 / PRD / RICE / roadmap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84748" y="1632204"/>
            <a:ext cx="5522976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19385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BUSINESS ANALYST ASSISTANT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3134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business question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language.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97696" y="2212848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FAF8FA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2295144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is our RTO rate?”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97696" y="2761488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FAF8FA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25712" y="2843784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categories have the weakest margin?”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997696" y="3438975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FAF8FA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25712" y="353872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is the cart abandonment rate?”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19088" y="4144726"/>
            <a:ext cx="4645152" cy="0"/>
          </a:xfrm>
          <a:prstGeom prst="line">
            <a:avLst/>
          </a:prstGeom>
          <a:noFill/>
          <a:ln w="10160">
            <a:solidFill>
              <a:srgbClr val="E4DF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97396" y="4396601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0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→ SQL / analytics layer → finding → business context → recommendation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53328" y="5358384"/>
            <a:ext cx="5522976" cy="1042416"/>
          </a:xfrm>
          <a:prstGeom prst="roundRect">
            <a:avLst>
              <a:gd name="adj" fmla="val 8333"/>
            </a:avLst>
          </a:prstGeom>
          <a:solidFill>
            <a:srgbClr val="EFE5ED"/>
          </a:solidFill>
          <a:ln w="10160">
            <a:solidFill>
              <a:srgbClr val="EFE5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81344" y="5504688"/>
            <a:ext cx="0" cy="365760"/>
          </a:xfrm>
          <a:prstGeom prst="line">
            <a:avLst/>
          </a:prstGeom>
          <a:noFill/>
          <a:ln w="27940">
            <a:solidFill>
              <a:srgbClr val="5A0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5504688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27648" y="5797296"/>
            <a:ext cx="5084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output should cite a defined KPI and surface the data basis — not invent a narrative.</a:t>
            </a:r>
            <a:endParaRPr lang="en-US" sz="12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A0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F6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STORY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dashboard to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decision.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254203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F2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demonstrates how a Business Analyst / Product Analyst can move from raw marketplace data to a traceable product recommendation.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658368" y="3785616"/>
            <a:ext cx="2423160" cy="1078992"/>
          </a:xfrm>
          <a:prstGeom prst="roundRect">
            <a:avLst>
              <a:gd name="adj" fmla="val 5085"/>
            </a:avLst>
          </a:prstGeom>
          <a:solidFill>
            <a:srgbClr val="6A195F"/>
          </a:solidFill>
          <a:ln w="10160">
            <a:solidFill>
              <a:srgbClr val="8C3B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39776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kern="0" spc="80" dirty="0">
                <a:solidFill>
                  <a:srgbClr val="F6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" y="42793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 orders · 10k customers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1568" y="3785616"/>
            <a:ext cx="2423160" cy="1078992"/>
          </a:xfrm>
          <a:prstGeom prst="roundRect">
            <a:avLst>
              <a:gd name="adj" fmla="val 5085"/>
            </a:avLst>
          </a:prstGeom>
          <a:solidFill>
            <a:srgbClr val="6A195F"/>
          </a:solidFill>
          <a:ln w="10160">
            <a:solidFill>
              <a:srgbClr val="8C3B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39776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kern="0" spc="80" dirty="0">
                <a:solidFill>
                  <a:srgbClr val="F6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38728" y="42793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· margin · retention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44768" y="3785616"/>
            <a:ext cx="2423160" cy="1078992"/>
          </a:xfrm>
          <a:prstGeom prst="roundRect">
            <a:avLst>
              <a:gd name="adj" fmla="val 5085"/>
            </a:avLst>
          </a:prstGeom>
          <a:solidFill>
            <a:srgbClr val="6A195F"/>
          </a:solidFill>
          <a:ln w="10160">
            <a:solidFill>
              <a:srgbClr val="8C3B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39776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kern="0" spc="80" dirty="0">
                <a:solidFill>
                  <a:srgbClr val="F6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81928" y="42793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bottlenecks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87968" y="3785616"/>
            <a:ext cx="2423160" cy="1078992"/>
          </a:xfrm>
          <a:prstGeom prst="roundRect">
            <a:avLst>
              <a:gd name="adj" fmla="val 5085"/>
            </a:avLst>
          </a:prstGeom>
          <a:solidFill>
            <a:srgbClr val="6A195F"/>
          </a:solidFill>
          <a:ln w="10160">
            <a:solidFill>
              <a:srgbClr val="8C3B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25128" y="39776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kern="0" spc="80" dirty="0">
                <a:solidFill>
                  <a:srgbClr val="F6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25128" y="42793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Smart-Confirm + roadmap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52852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6C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portfolio headline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55595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“Built a Customer 360° &amp; Product Growth Intelligence Platform using SQL, Python and Power BI to quantify marketplace leakage, segment customers and translate findings into product priorities.”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602589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FC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This is a Meesho marketplace-inspired case study; customer-level data is synthetic and should not be represented as proprietary Meesho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NOTES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references and project artefacts used in the deck.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context is separated from the synthetic case-study dataset.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5413248" cy="43159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751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CONTEXT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 Investor Relations — company overview / Q1 FY27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https://investor.meesho.com/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 RHP / prospectus — marketplace, sellers, logistics, content commerce context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https://investor.meesho.com/ipo-disclosures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07822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statistics shown: 274M+ annual transacting users, 1.04M+ annual transacting sellers, 2.83B+ placed orders (LTM ended 30 Jun 2026).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0109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Accessed: 03 Oct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1344" y="1719072"/>
            <a:ext cx="5394960" cy="43159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0160">
            <a:solidFill>
              <a:srgbClr val="E4DF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9751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ARTEFACTS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37376" y="239572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56832" y="2377440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— project narrative &amp; headline metrics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37376" y="275234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56832" y="273405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meesho_sales_flat_analytics.csv — order-line fact table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37376" y="310896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56832" y="3090672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meesho_customers.csv — customer base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37376" y="346557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56832" y="3447288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meesho_products.csv — 500 SKUs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37376" y="382219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56832" y="3803904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meesho_feature_events.csv — 150k feature events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37376" y="417880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56832" y="4160520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rfm_customer_segments.csv — customer segmentation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37376" y="453542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56832" y="451713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cohort_retention_matrix.csv — cohort retention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37376" y="489204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56832" y="4873752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Meesho_EcomAI_Dashboard_Build_Guide.docx — Power BI build plan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37376" y="524865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56832" y="5230368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Meesho_Phases_13-17_Documentation.docx — BA / PM / QA artefacts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A0A5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3028</Words>
  <Application>Microsoft Office PowerPoint</Application>
  <PresentationFormat>Custom</PresentationFormat>
  <Paragraphs>701</Paragraphs>
  <Slides>26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Portfolio Project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Meesho Customer 360° &amp; Product Growth Intelligence</dc:title>
  <dc:subject>Meesho Customer 360° &amp; Product Growth Intelligence Platform</dc:subject>
  <dc:creator>Business Analytics Case Study</dc:creator>
  <cp:lastModifiedBy>Asus</cp:lastModifiedBy>
  <cp:revision>15</cp:revision>
  <dcterms:created xsi:type="dcterms:W3CDTF">2026-10-03T09:34:15Z</dcterms:created>
  <dcterms:modified xsi:type="dcterms:W3CDTF">2026-10-03T10:58:16Z</dcterms:modified>
</cp:coreProperties>
</file>